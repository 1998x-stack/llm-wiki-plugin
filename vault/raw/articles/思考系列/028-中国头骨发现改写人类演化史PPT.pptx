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和大家分享一个足以颠覆我们认知的话题：中国近期的一系列考古发现，正在彻底改写我们背了几十年的人类演化史。这不仅仅是新化石的出土，更是对人类起源和演化路径的重新审视。让我们一起走进这个充满神秘与挑战的远古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六个部分。首先，我们将追溯一个“幽灵人种”的发现过程，它最初只存在于DNA序列中。接着，我们会讲述哈尔滨“龙人”头骨的传奇故事，它如何揭开了这个幽灵的真面目。然后，我们将探讨湖北郧县人头骨如何撼动了传统的人类演化家谱。之后，我们会了解丹尼索瓦人这个强悍物种的生存能力。再然后，我们将共同思考一个终极问题：如此强大的人种为何会走向灭绝？最后，我们将重新审视“非洲起源说”，探讨这些新发现带来的深远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让我们进入第一章：一个只存在于基因中的“幽灵人种”。故事的开端，要从一块不起眼的骨头碎片说起。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2010年，在遥远的西伯利亚，一块在丹尼索瓦山洞发现的趾骨碎片，开启了古人类学的新篇章。当时，没人想到这块小小的骨头会带来如此颠覆性的发现。DNA检测结果显示，它不属于任何已知的人类物种，一个全新的“幽灵人种”就此浮出水面，我们称之为丹尼索瓦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更令人惊讶的是，这个神秘的丹尼索瓦人其实一直潜伏在我们的身体里。通过基因测序，科学家发现，今天的我们，尤其是亚洲和大洋洲的人群，身上都流淌着丹尼索瓦人的血液。我们甚至继承了他们适应极端环境的能力，比如高原缺氧。这说明，我们的祖先与他们曾有过深度的融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虽然我们知道了丹尼索瓦人的存在，甚至身上有他们的基因，但我们却一直不知道他们长什么样。直到在中国哈尔滨，一口枯井里的秘密被揭开。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头骨的发现充满了传奇色彩。二战时期，一位中国劳工为了保护国宝，将其藏匿于枯井长达80年。当它被重新发现并命名为“龙人”时，其独特的特征立刻引起了学界的关注。它既有原始人类的特征，又与我们智人非常相似，这让科学家们不禁猜测：它会不会就是我们寻找多年的丹尼索瓦人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答案在2025年揭晓。中国科学家通过一项精妙的技术，从头骨的牙结石中提取到了关键的DNA和蛋白质信息。检测结果提供了无可辩驳的证据：龙人，就是我们寻找了15年的丹尼索瓦人。这个困扰学界多年的谜团，终于在中国得到了解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龙人头骨的确认已经足够震撼，但故事并未结束。几乎同时，湖北郧县的另一项发现，更是直接撬动了整个人类演化的家谱。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块来自湖北郧县的头骨，距今已有百万年。按照教科书的说法，它应该是直立人。但中国科学家的研究颠覆了这一认知。通过先进的CT扫描和重建技术，他们发现这块头骨的特征指向了丹尼索瓦人支系。这意味着，丹尼索瓦人的祖先，可能在100万年前就已经出现在了中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发现的意义非凡。它直接改写了人类演化的时间线。我们曾经认为人类主要支系的分化发生在50万年前，但郧县的证据告诉我们，这个过程可能在100万年前就已经开始了。这让我们不得不重新思考，亚洲，尤其是中国，在人类演化史上的地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现在我们知道了丹尼索瓦人是谁，也知道了他们的祖先可能很早就生活在亚洲。那么，这个神秘的人种，究竟有多强大？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丹尼索瓦人堪称“全地形全天候”的生存王者。他们的活动范围横跨了整个亚洲，从西伯利亚的严寒，到青藏高原的缺氧，再到东南亚的热带雨林，他们都能应对自如。这种强大的适应能力，是尼安德特人所无法比拟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他们的强大不仅体现在生存能力上，更体现在智慧和工艺上。在丹尼索瓦洞穴中发现的精美石质手镯，其工艺水平之高，甚至让现代珠宝商都为之赞叹。这证明了他们拥有高度发达的认知能力和精细的制造技术。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既然丹尼索瓦人如此强大，适应能力如此出众，那他们最终为何会走向灭绝，只留下基因的痕迹？这是一个困扰我们的终极问题。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约10万年前，地球上是一个人属动物的“大观园”。丹尼索瓦人凭借其强大的能力，本应占据优势。但他们最终还是消失了。原因是什么？是天灾，还是人祸？是气候变化，还是与我们智人祖先的竞争导致了他们的灭绝？这至今仍是一个未解之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这些颠覆性的发现，让我们不得不重新审视一个经典的理论——人类的“非洲起源说”。我们是否需要彻底推翻它？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答案是否定的。现代智人起源于非洲的主流观点并未被推翻。但这些发现告诉我们，人类演化的过程远比我们想象的复杂。它不是一条直线，而是像一棵大树，有很多分支。亚洲，特别是中国，在这个复杂的演化过程中，扮演了至关重要的角色。我们需要重新书写人类演化的叙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就在最近，郧县人遗址的测年结果又有了新的突破，将时间再次向前推进。这告诉我们，探索远未结束。在中国的土地下，一定还埋藏着更多关于我们祖先的秘密。真相，永远在下一层泥土里。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我的分享到此结束，感谢大家的聆听。希望这次分享能让大家对人类的起源有一个全新的认识。谢谢！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jpeg" Type="http://schemas.openxmlformats.org/officeDocument/2006/relationships/image"/><Relationship Id="rId12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6.jpe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jpe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jpeg" Type="http://schemas.openxmlformats.org/officeDocument/2006/relationships/image"/><Relationship Id="rId11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jpe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5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.svg" Type="http://schemas.openxmlformats.org/officeDocument/2006/relationships/image"/><Relationship Id="rId11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6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notesSlides/notesSlide20.xml" Type="http://schemas.openxmlformats.org/officeDocument/2006/relationships/notesSlide"/><Relationship Id="rId6" Target="../media/image6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0A05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2286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中国头骨三连炸：人类演化史正在被彻底改写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7188" flipH="false" flipV="false">
            <a:off x="4826016" y="3168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42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基于最新考古发现的颠覆性解读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6096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3D3D3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ARCHAEOLOGICAL DISCOVERY &amp; HUMAN EVOLUTION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8190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1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8860B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97000" y="17272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幽灵人种：从DNA中发现的神秘存在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67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8860B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26162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枯井秘藏：龙人头骨揭开丹尼索瓦人真容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556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8860B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97000" y="35052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百年颠覆：郧县人头骨撬动人类演化家谱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778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8860B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985000" y="17272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强悍物种：横跨半个地球的“全天候人种”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667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8860B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985000" y="26162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终极追问：如此强大的人种为何消失？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556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8860B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0" y="35052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重新思考：人类演化的“非洲起源说”是否依然稳固？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5334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270000" y="53594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人类演化新发现与历史重审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 spc="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286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幽灵人种：从DNA中发现的神秘存在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88000" y="3175000"/>
            <a:ext cx="1016000" cy="381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3556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444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3D3D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一块不起眼的骨头碎片，揭开了人类演化史上的隐秘篇章 ——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从一块趾骨开始的颠覆性发现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16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93800" y="17272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2010年 · 西伯利亚丹尼索瓦山洞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考古学家意外发现了一块极小的趾骨碎片，开启了探索的序幕。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667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93800" y="26162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初期认知 · 未受重视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当时主流观点认为欧亚大陆古人类化石无非是智人或尼安德特人。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556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93800" y="35052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DNA测序 · 震惊世界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检测结果显示，这块骨头的主人属于一个全新的、从未被记录的群体。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445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93800" y="43942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里程碑式发现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人类历史上第一次纯粹通过DNA而非化石形态，发现新的古人类物种。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rcRect l="39" r="39" t="0" b="0"/>
          <a:stretch>
            <a:fillRect/>
          </a:stretch>
        </p:blipFill>
        <p:spPr>
          <a:xfrm rot="0" flipH="false" flipV="false">
            <a:off x="7493000" y="1778000"/>
            <a:ext cx="3810000" cy="2146300"/>
          </a:xfrm>
          <a:prstGeom prst="roundRect">
            <a:avLst>
              <a:gd name="adj" fmla="val 5917"/>
            </a:avLst>
          </a:prstGeom>
          <a:noFill/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7493000" y="4064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俄罗斯西伯利亚丹尼索瓦山洞遗址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603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潜伏在我们基因里的“幽灵”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334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后续研究发现，这个“幽灵人种”从未真正消失。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现代人类，特别是东亚、东南亚和大洋洲人群，体内仍保留着</a:t>
            </a: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1%到5%</a:t>
            </a: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的丹尼索瓦人基因。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例如，藏族同胞适应高海拔缺氧环境的关键基因</a:t>
            </a: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EPAS1</a:t>
            </a: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，就源自丹尼索瓦人。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这证明了远古时期，智人与丹尼索瓦人曾有过密切的基因交流。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1651000"/>
            <a:ext cx="4572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B8860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40" b="40"/>
          <a:stretch>
            <a:fillRect/>
          </a:stretch>
        </p:blipFill>
        <p:spPr>
          <a:xfrm rot="0" flipH="false" flipV="false">
            <a:off x="6731000" y="1778000"/>
            <a:ext cx="4318000" cy="2425700"/>
          </a:xfrm>
          <a:prstGeom prst="roundRect">
            <a:avLst>
              <a:gd name="adj" fmla="val 523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6604000" y="4381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图：人类基因族谱与交流示意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E140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413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枯井秘藏：龙人头骨揭开丹尼索瓦人真容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295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从基因痕迹到实体化石，探寻人类演化史上的神秘支系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8051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枯井中沉睡80年的“龙人”头骨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历史尘封：从松花江畔到枯井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22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二战时期，一名中国劳工在哈尔滨松花江畔意外发现巨大头骨。为躲避日军搜寻，他将其秘密藏匿于一口枯井之中，这一藏便是80年。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重见天日：命名“龙人”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619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2021年，这块头骨重见天日，被科学家正式命名为“龙人”（Homo longi），其独特的特征立刻引发学界轰动。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572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独特体征：原始与现代的融合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016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头骨拥有粗壮眉骨，脑容量与现代人相当，面部特征却与智人相似，为人类演化研究提供了新的线索。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604000" y="1651000"/>
            <a:ext cx="2794000" cy="2095500"/>
          </a:xfrm>
          <a:prstGeom prst="roundRect">
            <a:avLst>
              <a:gd name="adj" fmla="val 6060"/>
            </a:avLst>
          </a:prstGeom>
          <a:noFill/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3" id="13"/>
          <p:cNvSpPr/>
          <p:nvPr/>
        </p:nvSpPr>
        <p:spPr>
          <a:xfrm rot="0" flipH="false" flipV="false">
            <a:off x="6604000" y="38100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哈尔滨龙人头骨化石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rcRect l="125" r="125" t="0" b="0"/>
          <a:stretch>
            <a:fillRect/>
          </a:stretch>
        </p:blipFill>
        <p:spPr>
          <a:xfrm rot="0" flipH="false" flipV="false">
            <a:off x="6604000" y="4191000"/>
            <a:ext cx="2794000" cy="1574800"/>
          </a:xfrm>
          <a:prstGeom prst="roundRect">
            <a:avLst>
              <a:gd name="adj" fmla="val 8064"/>
            </a:avLst>
          </a:prstGeom>
          <a:noFill/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604000" y="58420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劳工藏匿头骨艺术想象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176000" y="63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双重铁证：龙人就是丹尼索瓦人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 · 突破性进展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2159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2095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关键证据一：DNA提取</a:t>
            </a: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科学家从龙人头骨牙结石中，成功提取到丹尼索瓦人特有的线粒体DNA。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3048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43000" y="2984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关键证据二：古蛋白分析</a:t>
            </a: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检测到丹尼索瓦人特有的氨基酸突变，提供了蛋白质层面的有力佐证。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64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B8860B">
              <a:alpha val="15000"/>
            </a:srgbClr>
          </a:solidFill>
          <a:ln w="12700" cmpd="sng" cap="flat">
            <a:solidFill>
              <a:srgbClr val="B886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4191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最终结论：</a:t>
            </a: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哈尔滨龙人，就是科学界寻找了15年的丹尼索瓦人。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1651000"/>
            <a:ext cx="4572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3D3D3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rcRect l="0" r="0" t="40" b="40"/>
          <a:stretch>
            <a:fillRect/>
          </a:stretch>
        </p:blipFill>
        <p:spPr>
          <a:xfrm rot="0" flipH="false" flipV="false">
            <a:off x="6731000" y="1778000"/>
            <a:ext cx="4318000" cy="2425700"/>
          </a:xfrm>
          <a:prstGeom prst="roundRect">
            <a:avLst>
              <a:gd name="adj" fmla="val 523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6604000" y="444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牙结石DNA提取实验流程示意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0A05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2540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百年颠覆：郧县人头骨撬动人类演化家谱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683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The Centennial Subversion: Yunxian Man Skull Shakes Human Evolutionary Genealogy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8051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100万年前的头骨，挑战教科书铁律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3D3D3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33500" y="1803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发现与传统认知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33500" y="2184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湖北郧县发现的2号头骨距今约100万年。传统观点认为，这一时期的人类化石几乎肯定是直立人。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2385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3D3D3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429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33909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高精度科技分析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33500" y="37719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中国科学家利用高精度CT扫描和三维重建技术，对这块头骨进行了深入的数字化分析。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26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3D3D3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016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33500" y="4978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颠覆性结论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333500" y="5359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分析结果显示，其特征更接近龙人-丹尼索瓦人支系，而非典型直立人，挑战了传统人类演化谱系。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1651000"/>
            <a:ext cx="4826000" cy="1905000"/>
          </a:xfrm>
          <a:prstGeom prst="roundRect">
            <a:avLst>
              <a:gd name="adj" fmla="val 6666"/>
            </a:avLst>
          </a:prstGeom>
          <a:solidFill>
            <a:srgbClr val="000000">
              <a:alpha val="30000"/>
            </a:srgbClr>
          </a:solidFill>
          <a:ln w="12700" cmpd="sng" cap="flat">
            <a:solidFill>
              <a:srgbClr val="B8860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rcRect l="0" r="0" t="83" b="83"/>
          <a:stretch>
            <a:fillRect/>
          </a:stretch>
        </p:blipFill>
        <p:spPr>
          <a:xfrm rot="0" flipH="false" flipV="false">
            <a:off x="6731000" y="1841500"/>
            <a:ext cx="2286000" cy="1524000"/>
          </a:xfrm>
          <a:prstGeom prst="roundRect">
            <a:avLst>
              <a:gd name="adj" fmla="val 833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9144000" y="1841500"/>
            <a:ext cx="215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湖北郧县2号头骨化石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3D3D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距今约100万年，保存完整，具有极高研究价值。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3810000"/>
            <a:ext cx="4826000" cy="1905000"/>
          </a:xfrm>
          <a:prstGeom prst="roundRect">
            <a:avLst>
              <a:gd name="adj" fmla="val 6666"/>
            </a:avLst>
          </a:prstGeom>
          <a:solidFill>
            <a:srgbClr val="000000">
              <a:alpha val="30000"/>
            </a:srgbClr>
          </a:solidFill>
          <a:ln w="12700" cmpd="sng" cap="flat">
            <a:solidFill>
              <a:srgbClr val="B8860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rcRect l="0" r="0" t="99" b="99"/>
          <a:stretch>
            <a:fillRect/>
          </a:stretch>
        </p:blipFill>
        <p:spPr>
          <a:xfrm rot="0" flipH="false" flipV="false">
            <a:off x="6731000" y="4127500"/>
            <a:ext cx="2286000" cy="1282700"/>
          </a:xfrm>
          <a:prstGeom prst="roundRect">
            <a:avLst>
              <a:gd name="adj" fmla="val 99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9144000" y="4000500"/>
            <a:ext cx="215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CT扫描与数字重建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3D3D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通过数字化技术还原头骨内部结构，揭示演化秘密。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撬动人类演化的时间线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082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1905000"/>
            <a:ext cx="914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传统认知：</a:t>
            </a: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人类核心支系（智人、尼安德特人、丹尼索瓦人）分化时间约在</a:t>
            </a: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50万年前</a:t>
            </a: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2385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687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3365500"/>
            <a:ext cx="914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郧县人发现：</a:t>
            </a: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将分化时间点至少向前推至</a:t>
            </a: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100万年前</a:t>
            </a: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，甚至更早，直接改写演化时间线。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0292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4826000"/>
            <a:ext cx="914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历史意义：</a:t>
            </a: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亚洲（特别是中国地区）在人类演化早期阶段，扮演了远比想象中更为核心的角色。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81E19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413000"/>
            <a:ext cx="1117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强悍物种：横跨半个地球的“全天候人种”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5560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3D3D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丹尼索瓦人的生存边界与适应能力探索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5080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603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全地形全天候的生存王者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082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19050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足迹遍布亚洲全域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丹尼索瓦人的活动范围横跨整个亚洲，从寒冷的西伯利亚，到缺氧的青藏高原，再到湿热的东南亚热带雨林。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2385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687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33655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惊人的环境适应力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展现出强大的生存韧性，能够在严寒、高海拔、湿热等各种极端气候和地理条件下繁衍生存。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0292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48260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超越尼安德特人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相比之下，我们熟知的尼安德特人，其生存范围和对极端环境的适应能力都远不及丹尼索瓦人。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精湛的工艺与认知能力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841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93800" y="1778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在丹尼索瓦洞穴中发现了制作工艺极其精湛的绿色石质手镯，其抛光和钻孔技术令人惊叹。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857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93800" y="2794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同时出土的还有精细的石器和骨器，展现了高超的加工技巧。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873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93800" y="3810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这些发现表明，丹尼索瓦人拥有相当高的认知能力和工艺水平，并非我们想象中的“原始人”。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rcRect l="0" r="0" t="4" b="4"/>
          <a:stretch>
            <a:fillRect/>
          </a:stretch>
        </p:blipFill>
        <p:spPr>
          <a:xfrm rot="0" flipH="false" flipV="false">
            <a:off x="6604000" y="1651000"/>
            <a:ext cx="3302000" cy="1955800"/>
          </a:xfrm>
          <a:prstGeom prst="roundRect">
            <a:avLst>
              <a:gd name="adj" fmla="val 6493"/>
            </a:avLst>
          </a:prstGeom>
          <a:noFill/>
          <a:ln w="12700" cmpd="sng" cap="flat">
            <a:solidFill>
              <a:srgbClr val="B8860B">
                <a:alpha val="5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3" id="13"/>
          <p:cNvSpPr/>
          <p:nvPr/>
        </p:nvSpPr>
        <p:spPr>
          <a:xfrm rot="0" flipH="false" flipV="false">
            <a:off x="6604000" y="36830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丹尼索瓦洞穴出土的精美石质手镯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rcRect l="0" r="0" t="281" b="281"/>
          <a:stretch>
            <a:fillRect/>
          </a:stretch>
        </p:blipFill>
        <p:spPr>
          <a:xfrm rot="0" flipH="false" flipV="false">
            <a:off x="6604000" y="4191000"/>
            <a:ext cx="1778000" cy="1524000"/>
          </a:xfrm>
          <a:prstGeom prst="roundRect">
            <a:avLst>
              <a:gd name="adj" fmla="val 8333"/>
            </a:avLst>
          </a:prstGeom>
          <a:noFill/>
          <a:ln w="12700" cmpd="sng" cap="flat">
            <a:solidFill>
              <a:srgbClr val="B8860B">
                <a:alpha val="5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604000" y="57785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同期出土的精细石器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636000" y="4191000"/>
            <a:ext cx="1905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D3D3D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63000" y="43180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true" strike="noStrike" u="none" sz="1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“他们的智慧与工艺水平，远超我们以往的认知。”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81E19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651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0" y="2413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D3D3D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05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794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终极追问：如此强大的人种为何消失？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4376" flipH="false" flipV="false">
            <a:off x="5461032" y="3676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3D3D3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937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基因的痕迹背后，隐藏着怎样的生存挑战与历史谜团？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终极谜题：强者的陨落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人类大观园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65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约10万年前，地球上并存着智人、尼安德特人和丹尼索瓦人等多种人类，构成了人属动物的繁荣时代。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699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强者的基因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365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丹尼索瓦人在脑容量、环境适应能力和工艺水平上都不逊色于智人，甚至在某些方面展现出更强的优势。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陨落的猜想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365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灭绝原因众说纷纭：是剧烈的气候变化？是全球性的瘟疫？还是与智人祖先相遇后的生存竞争与冲突？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58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800">
                <a:solidFill>
                  <a:srgbClr val="D3D3D3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“这至今仍是一个未解之谜，提醒我们文明的脆弱与历史的无常。”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2413000"/>
            <a:ext cx="1143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重新思考：人类演化的“非洲起源说”是否依然稳固？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4184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444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3D3D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颠覆性的发现是否意味着我们需要彻底推翻经典理论？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5334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重新书写人类演化的叙事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1930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主流共识：非洲起源说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413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现代智人起源于非洲仍是学界主流共识，拥有大量化石与基因证据的坚实支持。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778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968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1930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挑战：单一阶梯式叙事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2413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新发现挑战的并非起源地本身，而是那种认为人类演化是一条单一、笔直前进的线性叙事。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683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873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3835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新模型：演化的灌木丛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318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人类演化更像一棵枝繁叶茂的“灌木丛”，众多分支并存、演化、灭绝，并相互影响。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3683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3873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12000" y="3835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关键枝干：亚洲与中国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4318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亚洲，尤其是中国，无疑是这棵“灌木丛”中非常重要的一个枝干，改写了人类演化的版图。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0" y="6223000"/>
            <a:ext cx="1219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3D3D3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Human Evolution Narrative • 2024 Academic Review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C4033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604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3D3D3"/>
                </a:solidFill>
                <a:latin typeface="Noto Serif SC"/>
                <a:ea typeface="Noto Serif SC"/>
                <a:cs typeface="Noto Serif SC"/>
                <a:sym typeface="Noto Serif SC"/>
              </a:rPr>
              <a:t>真相，永远在下一层泥土里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727200"/>
            <a:ext cx="558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2026年，郧县人遗址的重新测年结果显示其年代为</a:t>
            </a:r>
            <a:r>
              <a:rPr lang="en-US" b="true" i="false" strike="noStrike" u="none" sz="18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177万年</a:t>
            </a: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，再次刷新了我们对东亚早期人类演化的认知。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921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2870200"/>
            <a:ext cx="558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可以预见，未来在中国这片土地上，还将有更多惊人的考古发现等待着我们。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937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886200"/>
            <a:ext cx="558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人类对自身起源的探索是一场永无止境的旅程，每一次新的发现，都让我们更接近历史的真相。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rcRect l="0" r="0" t="24" b="24"/>
          <a:stretch>
            <a:fillRect/>
          </a:stretch>
        </p:blipFill>
        <p:spPr>
          <a:xfrm rot="0" flipH="false" flipV="false">
            <a:off x="7493000" y="1778000"/>
            <a:ext cx="3429000" cy="2286000"/>
          </a:xfrm>
          <a:prstGeom prst="roundRect">
            <a:avLst>
              <a:gd name="adj" fmla="val 5555"/>
            </a:avLst>
          </a:prstGeom>
          <a:noFill/>
          <a:ln w="12700" cmpd="sng" cap="flat">
            <a:solidFill>
              <a:srgbClr val="B8860B">
                <a:alpha val="5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3" id="13"/>
          <p:cNvSpPr/>
          <p:nvPr/>
        </p:nvSpPr>
        <p:spPr>
          <a:xfrm rot="0" flipH="false" flipV="false">
            <a:off x="7493000" y="4191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3D3D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考古学家正在进行遗址发掘工作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40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E140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635000"/>
            <a:ext cx="10922000" cy="5588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12700" cmpd="sng" cap="flat">
            <a:solidFill>
              <a:srgbClr val="B8860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295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86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D3D3D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探索人类起源 · 追溯生命本源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