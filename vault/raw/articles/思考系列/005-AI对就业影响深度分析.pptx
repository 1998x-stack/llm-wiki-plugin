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想和大家探讨一个非常热门，但也可能被我们误解的话题——AI对我们工作和未来的影响。我们常常听到“AI是工具，不会替代人”这样的说法，但事实真的如此吗？今天，我将揭示一个可能让你感到不安的真相：AI的真正目的，或许并非简单地替代岗位，而是更深层次地改变我们的职业发展轨迹，甚至锁死普通人的上升通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探讨AI革命与过去的技术革命有何本质不同；接着，我将详细解读正在发生的“三大脱钩”现象，看看它们是如何影响我们的职场生存；然后，我们会分析为什么目前大部分人还没有感受到AI的直接冲击；之后，我们会揭示AI的一个终极短板；最后，我将为大家提供三条在AI时代的生存和发展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不知道大家有没有发现一个奇怪的现象：AI工具越来越强大，能帮我们做的事情越来越多，但我们的工作似乎并没有变得更轻松，反而感觉竞争更激烈，工作更难找了。这背后究竟隐藏着什么逻辑？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今天要告诉大家的，可能是一个扎心的真相：我们一直被误导了。AI的威胁，远不止于替代某个具体的岗位。它真正可怕的地方在于，它正在悄然剥夺我们赖以成长的机会，锁死我们的收入上限，并最终焊死我们的上升通道。这并非危言耸听，而是有顶层报告和现实数据支撑的趋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那么，首先我们来探讨第一个问题：这次的AI革命，和我们经历过的工业革命、互联网革命，到底有什么根本性的不同？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回顾历史，从蒸汽机到电力，再到互联网，每一次技术革命的核心都是解放人的体力，把我们从重复、繁重的劳动中解放出来，去从事更需要脑力和创造力的工作。技术替代的是我们的手脚，而不是大脑。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AI革命完全不同。它瞄准的不是我们的手脚，而是我们的大脑，是我们引以为傲的脑力劳动。更致命的是，过去技术革命创造的新工作需要人来做，而AI创造的新需求，很多时候AI自己就能满足，这就形成了一个可怕的“脱钩”现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接下来，我们将深入剖析这三个正在发生的“脱钩”现象，看看它们是如何一步步撕碎我们熟悉的职场生存逻辑的。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脱钩，是投资与就业的脱钩。AI领域的投资热度空前高涨，但这些钱并没有创造更多就业，反而流向了算力和自动化，导致企业裁员。我们看到的是“无就业增长的繁荣”，AI产业越火，普通人的工作机会反而越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第二个脱钩，对年轻人尤为致命，那就是努力与成长的脱钩。过去，我们可以从基础工作做起，在实践中学习成长。但现在，AI把所有基础工作都做了，新人连入门的机会都没有，上升通道被直接焊死。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第三个脱钩，是效率与工资的脱钩。过去，效率提升意味着工资上涨。但现在，AI的效率提升，反而成为了压制我们工资的工具。因为企业使用AI的成本极低，我们的工资上限被死死地锁在了机器成本之下。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听到这里，很多人可能会问：既然AI的冲击这么大，为什么我现在感觉还不明显？这就涉及到我们接下来要讨论的“缓冲地带”。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真相是物理世界的摩擦力。AI在处理数字化信息时无所不能，但一旦进入复杂的物理世界，比如修理、搬运等非标准化工作，机器人技术的局限性就暴露无遗。这道物理屏障，是我们目前感觉冲击不明显的主要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真相是，AI并非简单地替代整个岗位，而是在拆解和重组岗位。它会拿走那些重复、机械的基础任务，留下需要更高技能和责任担当的核心任务。未来被淘汰的，不是某个岗位，而是那些只能完成基础任务的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尽管AI看起来无所不能，但它有一个永远无法弥补的终极短板，这也是我们人类最后的堡垒。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这个短板就是责任承担。现实世界的决策需要有人为之负责，无论是法律上还是道德上。AI可以提供建议，但无法承担决策失误带来的后果。因此，在关键的决策环节，人是不可或缺的，这是AI永远无法替代的。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了解了问题所在，我们更关心的是如何应对。基于前面的分析，我为大家总结了三条在AI时代最稳定的求生路径。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第一条路径，是从事情感价值密集型工作。人是情感动物，在脆弱和成长时需要的是真实的关怀和连接，这是AI无法模拟的。心理咨询、护理、教育等领域，未来会更加重要。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第二条路径，是投身于复杂物理世界的非标操作岗位。这些工作需要丰富的经验和灵活的动手能力，机器人在短期内难以胜任。水电工、维修技师等“蓝领”岗位，在未来反而可能成为香饽饽。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第三条路径，是成为高阶决策者和责任承担者。无论AI多强大，最终的拍板和责任都需要人来承担。向这个方向发展，意味着更高的能力要求，但也意味着更稳固的职业地位。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说，面对AI浪潮，过度焦虑没有意义。我们仍有时间去适应和调整。关键是要认清局势，将AI作为提升自己的工具，而不是对手。把精力放在那些AI无法替代的人类核心能力上，比如建立信任、提供情感价值、解决复杂问题和承担责任。这才是我们在AI时代安身立命的根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0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1.jpe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7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48.png" Type="http://schemas.openxmlformats.org/officeDocument/2006/relationships/image"/><Relationship Id="rId14" Target="../notesSlides/notesSlide11.xml" Type="http://schemas.openxmlformats.org/officeDocument/2006/relationships/notesSlide"/><Relationship Id="rId2" Target="../media/image35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7.svg" Type="http://schemas.openxmlformats.org/officeDocument/2006/relationships/image"/><Relationship Id="rId11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media/image64.png" Type="http://schemas.openxmlformats.org/officeDocument/2006/relationships/image"/><Relationship Id="rId8" Target="../media/image65.sv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70.png" Type="http://schemas.openxmlformats.org/officeDocument/2006/relationships/image"/><Relationship Id="rId8" Target="../media/image71.svg" Type="http://schemas.openxmlformats.org/officeDocument/2006/relationships/image"/><Relationship Id="rId9" Target="../media/image7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7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8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8.svg" Type="http://schemas.openxmlformats.org/officeDocument/2006/relationships/image"/><Relationship Id="rId11" Target="../notesSlides/notesSlide21.xml" Type="http://schemas.openxmlformats.org/officeDocument/2006/relationships/notesSlide"/><Relationship Id="rId2" Target="../media/image1.jpeg" Type="http://schemas.openxmlformats.org/officeDocument/2006/relationships/image"/><Relationship Id="rId3" Target="../media/image81.png" Type="http://schemas.openxmlformats.org/officeDocument/2006/relationships/image"/><Relationship Id="rId4" Target="../media/image8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83.png" Type="http://schemas.openxmlformats.org/officeDocument/2006/relationships/image"/><Relationship Id="rId8" Target="../media/image84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2.xml" Type="http://schemas.openxmlformats.org/officeDocument/2006/relationships/notesSlide"/><Relationship Id="rId4" Target="../media/image8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别再被AI骗了！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9F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它根本不是来替代岗位的，是来锁死普通人的上升通道的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272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6764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时代变了：AI革命与以往有何不同？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638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26162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三大脱钩：撕碎职场生存逻辑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036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06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3556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缓冲地带：为什么你还没被替代？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434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5466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651000" y="44958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终极短板：AI无法逾越的鸿沟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2832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4864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54356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05. 破局之路：普通人的三条求生路径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一个诡异的现象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4572000"/>
          </a:xfrm>
          <a:prstGeom prst="roundRect">
            <a:avLst>
              <a:gd name="adj" fmla="val 2777"/>
            </a:avLst>
          </a:prstGeom>
          <a:solidFill>
            <a:srgbClr val="0A1931">
              <a:alpha val="8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AI越来越好用，但你的工作越来越难了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046" flipH="false" flipV="false">
            <a:off x="1016008" y="221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476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4384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效率的飞跃与贬值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以前3天完成的行业分析报告，现在AI仅需1小时即可生成初稿。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3274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技能的快速替代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专业翻译耗时费力的海外视频字幕，现在AI一键即可生成双语版本。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4216400"/>
            <a:ext cx="438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团队协作的简化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以往需要整个部门加班的年终数据复盘，现在导入表格AI即可生成完整PPT。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rcRect l="12944" r="12944" t="0" b="0"/>
          <a:stretch>
            <a:fillRect/>
          </a:stretch>
        </p:blipFill>
        <p:spPr>
          <a:xfrm rot="0" flipH="false" flipV="false">
            <a:off x="6350000" y="1524000"/>
            <a:ext cx="5080000" cy="4572000"/>
          </a:xfrm>
          <a:prstGeom prst="roundRect">
            <a:avLst>
              <a:gd name="adj" fmla="val 2777"/>
            </a:avLst>
          </a:prstGeom>
          <a:noFill/>
          <a:ln w="254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这是最大的骗局！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9F4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542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18542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AI不是来替代你的岗位，而是来剥夺你成长的机会、锁死你的工资上限、焊死你的上升通道。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556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35306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顶层预警：2020年的前瞻性报告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937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早在2020年，国内顶层智囊团就发布了一份关于AI、就业与社保的重磅报告。这是国内首次由权威部门公开表达对AI冲击就业的系统性担忧，揭示了技术变革背后的深层隐患。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096000" y="3556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477000" y="35306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现实印证：2025年的残酷真相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3937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时至2025年，报告中的预判正在一步步变成现实。AI不仅没有带来普遍的效率红利，反而正在重构职场生态，让许多职业的发展路径变得愈发狭窄和固化。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时代变了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7290" flipH="false" flipV="false">
            <a:off x="5715053" y="405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9F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254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AI革命与以往有何不同？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过去的技术革命：解放人的体力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1931">
              <a:alpha val="8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803400"/>
            <a:ext cx="396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工业革命：从人力到机械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2606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蒸汽机替代了繁重的人力劳作，虽然改变了生产方式，但也创造了工厂工人、铁路司机、机械师等海量新岗位。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766" flipH="false" flipV="false">
            <a:off x="1066809" y="31051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74800" y="3276600"/>
            <a:ext cx="396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信息革命：重塑商业模式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37338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互联网替代了传统信件和线下交易，却催生了程序员、产品经理、电商主播等前所未有的全新职业形态。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800" y="4699000"/>
            <a:ext cx="4470400" cy="1092200"/>
          </a:xfrm>
          <a:prstGeom prst="roundRect">
            <a:avLst>
              <a:gd name="adj" fmla="val 11627"/>
            </a:avLst>
          </a:prstGeom>
          <a:solidFill>
            <a:srgbClr val="FF9F45">
              <a:alpha val="15000"/>
            </a:srgbClr>
          </a:solidFill>
          <a:ln w="12700" cmpd="sng" cap="flat">
            <a:solidFill>
              <a:srgbClr val="FF9F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4889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8514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技术替代的是人的手脚，而不是人的大脑。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0" y="1524000"/>
            <a:ext cx="5334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05800" y="3048000"/>
            <a:ext cx="914400" cy="914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096000" y="4064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此处放置工业革命时期工厂场景图片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AI革命：替代人的脑力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828800"/>
            <a:ext cx="396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直击核心竞争力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2606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AI革命击穿底层逻辑，它替代的不仅仅是体力，更是人类引以为傲的脑力劳动。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766" flipH="false" flipV="false">
            <a:off x="1066809" y="3105150"/>
            <a:ext cx="4470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365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74800" y="3365500"/>
            <a:ext cx="396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自我满足的新需求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37973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AI带来的新需求（如AIGC），绝大多数情况下AI自己就能独立解决，无需人类介入。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800" y="4699000"/>
            <a:ext cx="4470400" cy="1016000"/>
          </a:xfrm>
          <a:prstGeom prst="roundRect">
            <a:avLst>
              <a:gd name="adj" fmla="val 12500"/>
            </a:avLst>
          </a:prstGeom>
          <a:solidFill>
            <a:srgbClr val="FF9F45">
              <a:alpha val="15000"/>
            </a:srgbClr>
          </a:solidFill>
          <a:ln w="12700" cmpd="sng" cap="flat">
            <a:solidFill>
              <a:srgbClr val="FF9F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93800" y="4889500"/>
            <a:ext cx="4216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顶层智囊团称之为：“脱钩”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rcRect l="17187" r="17187" t="0" b="0"/>
          <a:stretch>
            <a:fillRect/>
          </a:stretch>
        </p:blipFill>
        <p:spPr>
          <a:xfrm rot="0" flipH="false" flipV="false">
            <a:off x="6096000" y="1524000"/>
            <a:ext cx="5334000" cy="4572000"/>
          </a:xfrm>
          <a:prstGeom prst="roundRect">
            <a:avLst>
              <a:gd name="adj" fmla="val 2777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1778000"/>
            <a:ext cx="762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三大脱钩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9F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419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撕碎职场生存逻辑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脱钩一：投资与就业的脱钩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越砸钱，越失业：无就业增长的繁荣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资本狂热涌入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全球AI投资规模从百亿级暴涨至万亿级，资金大量流向算力中心建设，而非传统劳动力市场。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99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提效反致裁员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企业利用AI技术提升效率，直接导致对人力需求的下降，形成了“无就业增长”的繁荣假象。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恶性循环螺旋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裁员 → 买算力 → 提效 → 赚更多钱 → 继续裁员，这种机制正在不断加剧贫富差距和社会不稳定。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脱钩二：努力与成长的脱钩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你连入门的机会，都被AI夺走了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66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成长路径断裂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3492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传统“干中学”的模式被打破，AI的介入使得从实践中积累经验的路径变得不再可行。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3368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749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基础工作被替代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49800" y="3492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AI包揽了数据录入、文本处理和初稿撰写等基础工作，新人失去了最宝贵的入门练手机会。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3368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432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上升通道被焊死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32800" y="3492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企业倾向于招聘即插即用的熟手，初级岗位大幅压缩，年轻人面临“无位可升”的困境。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脱钩三：效率与工资的脱钩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9F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803400"/>
            <a:ext cx="3937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核心洞察：工资上限被锁死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766" flipH="false" flipV="false">
            <a:off x="1066809" y="2279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2540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73200" y="25146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产业升级的悖论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传统产业升级创造高薪岗位，而AI时代，最先被冲击的恰恰是中产阶层。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342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73200" y="34036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成本剪刀差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企业使用AI的成本（电费）远低于人力成本，员工的工资上限被死死锁死在机器成本之下。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66800" y="4318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73200" y="42926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效率与报酬脱钩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过去：效率越高工资越高；现在：AI效率越高，你的工资上限反而越低。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9F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00800" y="1828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908800" y="1803400"/>
            <a:ext cx="3937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趋势对比：效率 vs 工资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766" flipH="false" flipV="false">
            <a:off x="6400809" y="2279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 flipH="false" flipV="false">
            <a:off x="6400800" y="2540000"/>
            <a:ext cx="44704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905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缓冲地带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418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9F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381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为什么你还没被替代？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真相一：物理世界的摩擦力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73200" y="18034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线上渗透极快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AI 在程序员、客服、翻译等纯数字化工作中进展神速。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25908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73200" y="25654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物理世界受阻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机器人技术尚未成熟，在物理环境中行动笨拙，受限明显。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33528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73200" y="33274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非标作业难替代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修理水管、工地搬运等复杂场景，AI 难以完全胜任。</a:t>
            </a:r>
          </a:p>
        </p:txBody>
      </p:sp>
      <p:cxnSp>
        <p:nvCxnSpPr>
          <p:cNvPr name="Connector 10" id="10"/>
          <p:cNvCxnSpPr/>
          <p:nvPr/>
        </p:nvCxnSpPr>
        <p:spPr>
          <a:xfrm rot="-9766" flipH="false" flipV="false">
            <a:off x="1066809" y="4184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66800" y="4381500"/>
            <a:ext cx="4470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“物理世界是 AI 难以逾越的屏障，给了我们最后的缓冲期。”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rcRect l="17187" r="17187" t="0" b="0"/>
          <a:stretch>
            <a:fillRect/>
          </a:stretch>
        </p:blipFill>
        <p:spPr>
          <a:xfrm rot="0" flipH="false" flipV="false">
            <a:off x="6096000" y="1524000"/>
            <a:ext cx="5334000" cy="4572000"/>
          </a:xfrm>
          <a:prstGeom prst="roundRect">
            <a:avLst>
              <a:gd name="adj" fmla="val 2777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真相二：AI重组岗位，而非替代岗位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930400"/>
            <a:ext cx="381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传统岗位模式：任务混杂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766" flipH="false" flipV="false">
            <a:off x="1066809" y="2406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66800" y="2603500"/>
            <a:ext cx="44704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E0E0E0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AI 并非端掉整个岗位，而是剥离其中的基础任务。</a:t>
            </a: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E0E0E0"/>
              </a:buClr>
              <a:buChar char="•"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在一个岗位的 10 个任务中，AI 通常能替代 6 个机械、重复性的环节。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1955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62800" y="1930400"/>
            <a:ext cx="381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未来岗位模式：核心聚焦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766" flipH="false" flipV="false">
            <a:off x="6654809" y="2406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54800" y="2603500"/>
            <a:ext cx="44704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E0E0E0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剩余 40% 的核心任务（沟通、判断、担责）价值被放大。</a:t>
            </a: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E0E0E0"/>
              </a:buClr>
              <a:buChar char="•"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岗位被重组，要求从业者具备更高阶的综合能力。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95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9F45">
              <a:alpha val="15000"/>
            </a:srgbClr>
          </a:solidFill>
          <a:ln w="12700" cmpd="sng" cap="flat">
            <a:solidFill>
              <a:srgbClr val="FF9F45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5207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5181600"/>
            <a:ext cx="9652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未来淘汰的不是岗位，而是只会做 AI 能做的事的人。唯有掌握 AI 无法替代的核心能力，才能在变革中立于不败之地。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1905000"/>
            <a:ext cx="762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17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终极短板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4057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9F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431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AI无法逾越的鸿沟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AI的终极短板：无法承担现实代价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社会信任体系建立在“权责对等”之上，AI无法为决策失误承担法律与道德后果。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66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自动驾驶事故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3492500"/>
            <a:ext cx="269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算法故障导致的交通事故，法律责任主体依然是车企或驾驶员，AI无法出庭受审。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3368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749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医疗诊断失误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49800" y="3492500"/>
            <a:ext cx="269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AI辅助诊断若出现误诊，最终承担医疗事故责任的是医生和医疗机构，而非程序。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3368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432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投资决策亏损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32800" y="3492500"/>
            <a:ext cx="269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量化交易模型造成的巨额亏损，资金损失最终由投资者承担，AI无法赔偿。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9F45">
              <a:alpha val="15000"/>
            </a:srgbClr>
          </a:solidFill>
          <a:ln w="12700" cmpd="sng" cap="flat">
            <a:solidFill>
              <a:srgbClr val="FF9F4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086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460500" y="5270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结论：关键拍板环节必须由人执行，AI永远是辅助工具，无法替代人类的责任主体地位。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破局之路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9F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9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普通人的三条求生路径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路径一：情感价值密集型岗位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03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核心观点：AI 难以替代的人性温度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2352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人是情感动物，在脆弱和成长时需要同类的情感抚慰和信任，这种深度的情感连接是AI无法模拟的。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766" flipH="false" flipV="false">
            <a:off x="1066809" y="31178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3528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27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典型岗位示例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3759200"/>
            <a:ext cx="4470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心理咨询师、护士、育儿嫂、教师等。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766" flipH="false" flipV="false">
            <a:off x="1066809" y="45148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7498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724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核心竞争力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800" y="5156200"/>
            <a:ext cx="4470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具备深度的共情能力、无微不至的关怀以及建立长期信任关系的能力。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17187" r="17187" t="0" b="0"/>
          <a:stretch>
            <a:fillRect/>
          </a:stretch>
        </p:blipFill>
        <p:spPr>
          <a:xfrm rot="0" flipH="false" flipV="false">
            <a:off x="6096000" y="1524000"/>
            <a:ext cx="5334000" cy="4572000"/>
          </a:xfrm>
          <a:prstGeom prst="roundRect">
            <a:avLst>
              <a:gd name="adj" fmla="val 2777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路径二：复杂物理世界的非标操作岗位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9F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73200" y="18034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非标准化操作特性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2225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这类工作涉及复杂的物理环境交互，需要处理非结构化问题，机器人技术在短期内难以完全替代。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766" flipH="false" flipV="false">
            <a:off x="1066809" y="31051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302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73200" y="32766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典型岗位示例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36830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电工、水管工、汽修技师、抢险救援人员等。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766" flipH="false" flipV="false">
            <a:off x="1066809" y="4311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508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73200" y="44831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核心竞争力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800" y="48895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从业者的核心价值在于丰富的实操经验、临场应变判断能力以及精细的动手操作能力。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16084" r="16084" t="0" b="0"/>
          <a:stretch>
            <a:fillRect/>
          </a:stretch>
        </p:blipFill>
        <p:spPr>
          <a:xfrm rot="0" flipH="false" flipV="false">
            <a:off x="6223000" y="1524000"/>
            <a:ext cx="5207000" cy="4318000"/>
          </a:xfrm>
          <a:prstGeom prst="roundRect">
            <a:avLst>
              <a:gd name="adj" fmla="val 2941"/>
            </a:avLst>
          </a:prstGeom>
          <a:noFill/>
          <a:ln w="12700" cmpd="sng" cap="flat">
            <a:solidFill>
              <a:srgbClr val="FF9F45">
                <a:alpha val="5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路径三：高阶决策与担责岗位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1931">
              <a:alpha val="85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73200" y="1803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2098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在复杂多变的商业环境中进行关键决策，并对最终结果全权负责。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766" flipH="false" flipV="false">
            <a:off x="1066809" y="3041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2512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73200" y="32258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典型岗位示例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36322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企业高管、资深律师、基金经理、项目负责人等。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766" flipH="false" flipV="false">
            <a:off x="1066809" y="44640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6736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73200" y="4648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核心竞争力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800" y="50546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卓越的判断力、强大的领导力以及勇于承担责任的魄力。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17187" r="17187" t="0" b="0"/>
          <a:stretch>
            <a:fillRect/>
          </a:stretch>
        </p:blipFill>
        <p:spPr>
          <a:xfrm rot="0" flipH="false" flipV="false">
            <a:off x="6096000" y="1524000"/>
            <a:ext cx="5334000" cy="4572000"/>
          </a:xfrm>
          <a:prstGeom prst="roundRect">
            <a:avLst>
              <a:gd name="adj" fmla="val 2777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1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总结：浪潮来了，学会冲浪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14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778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拒绝焦虑，把握调整期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22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过度焦虑无意义，社会转型期仍有时间调整。保持冷静，看清方向比盲目恐慌更重要。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86500" y="1524000"/>
            <a:ext cx="514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1778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048500" y="1778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放下旧经验，善用杠杆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2222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认清局势，把AI当作提升生产力的杠杆，而不是替代者。用工具思维重塑工作流程。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810000"/>
            <a:ext cx="514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064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聚焦AI无法替代的领域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508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专注于建立信任、提供情感价值、处理复杂问题以及承担责任，这些是机器难以复制的。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86500" y="3810000"/>
            <a:ext cx="5143500" cy="2032000"/>
          </a:xfrm>
          <a:prstGeom prst="roundRect">
            <a:avLst>
              <a:gd name="adj" fmla="val 6250"/>
            </a:avLst>
          </a:prstGeom>
          <a:solidFill>
            <a:srgbClr val="FF9F45">
              <a:alpha val="10000"/>
            </a:srgbClr>
          </a:solidFill>
          <a:ln w="12700" cmpd="sng" cap="flat">
            <a:solidFill>
              <a:srgbClr val="FF9F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064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048500" y="4064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坚守人类核心价值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40500" y="4508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回归人的本质，发挥独特的创造力与判断力。</a:t>
            </a: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这些，才是你作为一个人最核心的价值。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28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111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9F45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5588040" y="374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