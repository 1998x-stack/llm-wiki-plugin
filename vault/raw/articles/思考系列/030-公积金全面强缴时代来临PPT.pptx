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来探讨一个与每一位打工人切身利益相关的话题——公积金改革。随着各地公积金新政的密集出台，一场深刻的变革正在悄然发生，它不仅改变了我们提取公积金的方式，更重要的是，它正在重新定义公积金的属性，将其从一项“沉睡的福利”转变为我们手中实实在在的权益武器。今天，我将和大家一起深入解读这场改革，看看它将如何改写我们的钱袋子规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五个部分。首先，我们会看看当前公积金缴纳的真实现状；其次，深入解读法律层面，明确我们常签的“自愿放弃协议”在法律上的无效性；接着，分析这次改革的核心逻辑，即如何让公积金从“死钱”变成“活钱”；然后，探讨这场变革对员工和企业带来的深远影响；最后，为大家提供一些切实可行的行动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首先来看现状。根据2024年的官方数据，全国公积金实缴人数只有1.76亿，而城镇就业人口高达4.73亿，这意味着缴纳比例仅为37.23%。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换句话说，每三个城镇打工人里，就有两个人没有公积金。如果我们把缴纳比例较高的机关事业单位和国企排除在外，民营企业的缴纳比例会更低。这个数字触目惊心，反映出公积金缴纳在现实中存在巨大的缺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造成这种现状的一个重要原因，是普遍存在的认知误区。很多人，包括一些企业主，都认为公积金是一种额外的福利，企业可以根据自身情况选择是否提供。但事实并非如此。根据《住房公积金管理条例》，公积金缴纳是用人单位的法定义务，和社保一样，具有强制性。这不是福利，而是我们劳动报酬的一部分，是受法律保护的权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这就引出了一个关键问题：我们入职时签署的“自愿放弃公积金协议”有效吗？答案是：完全无效。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《住房公积金管理条例》明确规定，单位必须按时足额缴存公积金，任何形式的放弃声明都不能免除这一法定义务。这是国家为了保障职工住房权益而设立的强制性制度。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如果单位拒不缴纳，员工可以向公积金中心投诉。根据条例第37、38条，中心有权责令其补缴，甚至申请法院强制执行。这意味着，无论你是否签过放弃协议，这笔钱都是你应得的合法权益。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理论需要实践来检验。最经典的案例来自广东高院。一家公司的员工虽然签了放弃协议，但离职后依然成功维权。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法院的判决非常明确：公积金是法定义务，不能通过员工的自愿放弃来免除。这个案例为全国的公积金纠纷树立了标杆，也给所有企业敲响了警钟：试图通过协议规避法定义务是行不通的。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公积金维权还有一个巨大的优势，那就是它的追缴没有时效限制。我们知道，社保补缴通常有2年的追溯期，但公积金不一样。只要你的前公司还在，哪怕是十年前的旧账，你都可以投诉要求补缴。数据显示，绝大多数公积金投诉都是员工离职后发起的。这意味着，企业的欠缴行为，就像一颗定时炸弹，随时可能被引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了解了现状和法律依据后，我们再来看看这场改革的核心逻辑。为什么过去大家对公积金不较真，而现在情况正在发生改变？这一切都源于公积金从“死钱”到“活钱”的转变。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改革的核心方向，就是全面松绑公积金的提取范围。过去，公积金几乎只能在买房时使用，导致大量资金沉淀在账户里，变成了“死钱”。而现在，租房、装修、交物业费，甚至看病，都可以提取公积金。这意味着，公积金账户里的钱，真正变成了我们可以随时支配的“活钱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公积金从“死钱”变成“活钱”，它的吸引力就发生了指数级的变化。我们来算一笔账：如果你的月薪是1万，公司按12%的比例缴纳，一年就是14400元。这笔钱以前取不出来，现在却可以用来交房租、搞装修，相当于每年多了一万多的可支配收入。面对这样实实在在的利益，谁还会默许公司不缴纳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这种吸引力的提升，将不可避免地引发职场规则的底层重构。这场改革，对员工和企业都将带来深远的影响。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员工而言，这将是一次权益意识的全面觉醒。未来，公积金会像社保一样，成为衡量公司是否正规的基本标准，入职时不谈公积金，就像不谈工资一样不可思议。而对企业来说，这意味着合规成本的大幅增加，那些靠压榨员工福利生存的企业将难以为继，行业将迎来一次大洗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说了这么多，最后给大家三个最实在的行动建议。第一，入职时一定要把公积金的缴纳细节写进合同，这是最有力的保障。第二，如果公司违规，不要犹豫，直接向公积金中心投诉，这是你的合法权利。第三，对于前公司的欠缴行为，哪怕已经离职多年，也可以追溯，法律站在你这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。公积金全面强缴时代的来临，其核心意义在于让公积金回归其劳动报酬的本质。它不是老板的恩赐，而是我们应得的收入。这场改革，不仅是在经济上还利于民，更是在规则上重塑公平，推动中国职场走向更加健康和规范的未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jpe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25.jpeg" Type="http://schemas.openxmlformats.org/officeDocument/2006/relationships/image"/><Relationship Id="rId4" Target="../media/image26.jpeg" Type="http://schemas.openxmlformats.org/officeDocument/2006/relationships/image"/><Relationship Id="rId5" Target="../media/image27.jpe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notesSlides/notesSlide6.xml" Type="http://schemas.openxmlformats.org/officeDocument/2006/relationships/notesSlide"/><Relationship Id="rId2" Target="../media/image4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4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jpe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2.svg" Type="http://schemas.openxmlformats.org/officeDocument/2006/relationships/image"/><Relationship Id="rId11" Target="../notesSlides/notesSlide9.xml" Type="http://schemas.openxmlformats.org/officeDocument/2006/relationships/notesSlide"/><Relationship Id="rId2" Target="../media/image4.jpeg" Type="http://schemas.openxmlformats.org/officeDocument/2006/relationships/image"/><Relationship Id="rId3" Target="../media/image45.jpeg" Type="http://schemas.openxmlformats.org/officeDocument/2006/relationships/image"/><Relationship Id="rId4" Target="../media/image46.jpe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jpe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58.jpeg" Type="http://schemas.openxmlformats.org/officeDocument/2006/relationships/image"/><Relationship Id="rId4" Target="../media/image59.jpeg" Type="http://schemas.openxmlformats.org/officeDocument/2006/relationships/image"/><Relationship Id="rId5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60.jpeg" Type="http://schemas.openxmlformats.org/officeDocument/2006/relationships/image"/><Relationship Id="rId4" Target="../media/image61.jpeg" Type="http://schemas.openxmlformats.org/officeDocument/2006/relationships/image"/><Relationship Id="rId5" Target="../media/image62.png" Type="http://schemas.openxmlformats.org/officeDocument/2006/relationships/image"/><Relationship Id="rId6" Target="../media/image63.svg" Type="http://schemas.openxmlformats.org/officeDocument/2006/relationships/image"/><Relationship Id="rId7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68.jpeg" Type="http://schemas.openxmlformats.org/officeDocument/2006/relationships/image"/><Relationship Id="rId8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notesSlides/notesSlide15.xml" Type="http://schemas.openxmlformats.org/officeDocument/2006/relationships/notesSlide"/><Relationship Id="rId6" Target="../media/image7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524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508000" y="2286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公积金全面强缴时代来临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175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429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改革正在改写4亿打工人的钱袋子规则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5842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2026年度政策深度解读 · 权益与变革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B3954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87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1714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841500" y="18161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286000" y="1714500"/>
            <a:ext cx="863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每3个打工人，只有1个在缴公积金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476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2603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841500" y="27051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2286000" y="2603500"/>
            <a:ext cx="863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法律：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你的“自愿放弃协议”是一张废纸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365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3492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841500" y="35941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2286000" y="3492500"/>
            <a:ext cx="863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变革：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从“死钱”到“活钱”的逻辑重构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254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381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841500" y="44831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2286000" y="4381500"/>
            <a:ext cx="863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影响：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一场职场规则的底层重构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143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5270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841500" y="53721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2286000" y="5270500"/>
            <a:ext cx="863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行动：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给打工人的3个实在建议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9550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现状：每3个打工人，仅1人缴公积金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89000" y="1778000"/>
            <a:ext cx="2794000" cy="2794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3683000" y="1905000"/>
            <a:ext cx="1778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实缴人数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1.76亿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就业人口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4.73亿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缴纳比例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DAA520"/>
                </a:solidFill>
                <a:latin typeface="Noto Sans SC"/>
                <a:ea typeface="Noto Sans SC"/>
                <a:cs typeface="Noto Sans SC"/>
                <a:sym typeface="Noto Sans SC"/>
              </a:rPr>
              <a:t>37.23%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524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1778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858000" y="1752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合规性缺口显著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286000"/>
            <a:ext cx="431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数据显示，仅三成多的城镇就业人口享有公积金福利。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just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若剔除缴纳比例较高的机关事业单位和国企，</a:t>
            </a:r>
            <a:r>
              <a:rPr lang="en-US" b="true" i="false" strike="noStrike" u="none" sz="1600">
                <a:solidFill>
                  <a:srgbClr val="DAA520"/>
                </a:solidFill>
                <a:latin typeface="Noto Sans SC"/>
                <a:ea typeface="Noto Sans SC"/>
                <a:cs typeface="Noto Sans SC"/>
                <a:sym typeface="Noto Sans SC"/>
              </a:rPr>
              <a:t>民营企业的合规率更低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，大量劳动者权益保障存在盲区。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B3954">
              <a:alpha val="5000"/>
            </a:srgbClr>
          </a:solidFill>
          <a:ln w="12700" cmpd="sng" cap="flat">
            <a:solidFill>
              <a:srgbClr val="0B395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5626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55245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公积金覆盖率不足四成，反映出当前市场在社保合规方面仍有巨大提升空间。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认知误区：公积金是“福利”吗？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4953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177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错误认知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413000"/>
            <a:ext cx="4445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很多人认为公积金是企业给予的额外福利，属于可有可无的“锦上添花”，企业可根据情况自主决定是否缴纳。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1524000"/>
            <a:ext cx="4953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731000" y="1778000"/>
            <a:ext cx="609600" cy="60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7493000" y="177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法律事实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31000" y="2413000"/>
            <a:ext cx="4445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住房公积金与社保性质相同，是用人单位必须履行的</a:t>
            </a:r>
            <a:r>
              <a:rPr lang="en-US" b="true" i="false" strike="noStrike" u="none" sz="1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法定义务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，具有</a:t>
            </a:r>
            <a:r>
              <a:rPr lang="en-US" b="true" i="false" strike="noStrike" u="none" sz="1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强制性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，并非可给可不给的福利。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B3954">
              <a:alpha val="5000"/>
            </a:srgbClr>
          </a:solidFill>
          <a:ln w="12700" cmpd="sng" cap="flat">
            <a:solidFill>
              <a:srgbClr val="0B395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4958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3434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法律依据：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《住房公积金管理条例》明确规定，单位录用职工的，应当自录用之日起30日内到住房公积金管理中心办理缴存登记。违反规定将面临行政处罚。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461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结论：公积金是受法律保护的劳动报酬组成部分，而非“额外福利”。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法律解读：自愿放弃协议实为废纸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33782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B3954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16666" r="16666" t="0" b="0"/>
          <a:stretch>
            <a:fillRect/>
          </a:stretch>
        </p:blipFill>
        <p:spPr>
          <a:xfrm rot="0" flipH="false" flipV="false">
            <a:off x="2146300" y="2032000"/>
            <a:ext cx="609600" cy="60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协议本质无效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020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员工签署的《自愿放弃住房公积金缴纳声明》在法律上不具备效力，不能免除单位的法定义务。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1778000"/>
            <a:ext cx="33782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B3954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5791200" y="2032000"/>
            <a:ext cx="609600" cy="60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4660900" y="27940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法规强制缴存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60900" y="33020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依据《住房公积金管理条例》第20条，单位必须</a:t>
            </a:r>
            <a:r>
              <a:rPr lang="en-US" b="true" i="false" strike="noStrike" u="none" sz="14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按时、足额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缴存公积金，此为强制性规定。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1778000"/>
            <a:ext cx="33782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B3954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9436100" y="2032000"/>
            <a:ext cx="609600" cy="60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8305800" y="27940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违规后果严重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05800" y="33020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不缴或少缴将面临罚款；逾期仍不缴存，可申请</a:t>
            </a:r>
            <a:r>
              <a:rPr lang="en-US" b="true" i="false" strike="noStrike" u="none" sz="14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法院强制执行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。试用期员工入职30日内也必须登记。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B395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58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结论：无论是否签署放弃协议，单位为员工缴纳公积金是不可免除的法定义务。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533400"/>
            <a:ext cx="457200" cy="4572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33500" y="508000"/>
            <a:ext cx="654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案例分析：广东高院经典判例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397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B3954">
                <a:alpha val="2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165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案例背景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159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广东某电子公司131名员工曾签署“自愿放弃公积金协议”，离职后联名举报公司未依法缴纳公积金。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397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B3954">
                <a:alpha val="2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699000" y="1651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207000" y="165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公司辩解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2159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公司辩称：员工系“自愿放弃”，且公司已通过现金形式给予了相应补偿，不应再承担补缴责任。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397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B3954">
                <a:alpha val="2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382000" y="1651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90000" y="165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法院判决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2159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广东省高院判定：住房公积金缴纳是法定义务，不因员工放弃而免除。判决公司必须全额补缴。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064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0B3954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1905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44577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778000" y="42545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核心判决要点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778000" y="46355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“住房公积金是单位必须履行的法定义务，不能因员工自愿放弃而免除。”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71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💡 启示：企业试图通过协议规避法定义务的行为是无效的，合规才是底线。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75438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核心差异：公积金追缴无时效限制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EBF0F5">
              <a:alpha val="6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1587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社保补缴：受时效限制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2032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根据相关规定，社保补缴通常设有</a:t>
            </a:r>
            <a:r>
              <a:rPr lang="en-US" b="true" i="false" strike="noStrike" u="none" sz="18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2年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的追溯期限，超过时限难以主张权益。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397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0B3954">
              <a:alpha val="5000"/>
            </a:srgbClr>
          </a:solidFill>
          <a:ln w="25400" cmpd="sng" cap="flat">
            <a:solidFill>
              <a:srgbClr val="0B395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604000" y="1651000"/>
            <a:ext cx="609600" cy="60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7366000" y="1587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公积金：无时效限制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366000" y="2032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国家未设立任何追缴时效限制。只要公司存续，员工可随时追讨在职期间的欠缴款项。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42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FFD7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651000" y="3683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数据洞察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651000" y="4064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在某年度的158件公积金案件中，有</a:t>
            </a:r>
            <a:r>
              <a:rPr lang="en-US" b="true" i="false" strike="noStrike" u="none" sz="2200">
                <a:solidFill>
                  <a:srgbClr val="DAA520"/>
                </a:solidFill>
                <a:latin typeface="Noto Sans SC"/>
                <a:ea typeface="Noto Sans SC"/>
                <a:cs typeface="Noto Sans SC"/>
                <a:sym typeface="Noto Sans SC"/>
              </a:rPr>
              <a:t>134件 (85%)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是职工退休或离职后发起的投诉。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B3954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2578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651000" y="5207000"/>
            <a:ext cx="914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企业警示：欠缴公积金如同“定时炸弹”，离职多年仍可能面临追溯风险。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5000" y="2032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2413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变革：从“死钱”到“活钱”的逻辑重构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302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200">
                <a:solidFill>
                  <a:srgbClr val="FFD700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TRANSFORMATION: LOGIC RECONSTRUCTION OF FUND UTILIZATION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改革方向：提取范围全面松绑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1905000"/>
            <a:ext cx="609600" cy="6096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1714500" y="1879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租房提取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6035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无需买房，租房即可提取，减轻居住压力。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699000" y="1905000"/>
            <a:ext cx="609600" cy="6096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5397500" y="1879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装修改造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26035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房屋装修、旧房改造均可使用，改善居住环境。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9080500" y="1879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日常缴费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26035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物业费、取暖费等生活开支可直接扣除。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6035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2857500" y="39370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3556000" y="3911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医疗应急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857500" y="46355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罹患重大疾病时可提取应急，缓解燃眉之急。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865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3937000"/>
            <a:ext cx="609600" cy="609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239000" y="3911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其他场景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540500" y="46355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部分城市已放开生育、教育等专项提取。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84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从“房奴”专属到“民生”通用，让公积金真正成为百姓的“活钱”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8559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核心逻辑：公积金吸引力指数级提升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4826000" cy="1651000"/>
          </a:xfrm>
          <a:prstGeom prst="roundRect">
            <a:avLst>
              <a:gd name="adj" fmla="val 7692"/>
            </a:avLst>
          </a:prstGeom>
          <a:solidFill>
            <a:srgbClr val="F0F2F5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1714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改革前：低吸引力（死钱）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2159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资金长期冻结，难以提取，员工感知弱，宁愿多拿现金，导致企业缴纳意愿低。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1524000"/>
            <a:ext cx="4826000" cy="1651000"/>
          </a:xfrm>
          <a:prstGeom prst="roundRect">
            <a:avLst>
              <a:gd name="adj" fmla="val 7692"/>
            </a:avLst>
          </a:prstGeom>
          <a:solidFill>
            <a:srgbClr val="EBF8FF">
              <a:alpha val="100000"/>
            </a:srgbClr>
          </a:solidFill>
          <a:ln w="25400" cmpd="sng" cap="flat">
            <a:solidFill>
              <a:srgbClr val="0B395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858000" y="1778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620000" y="1714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改革后：高吸引力（活钱）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0" y="2159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资金灵活使用（租房/装修），收益明确，员工主动争取，企业缴纳积极性提高。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556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0B3954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3746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收益算账示例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191000"/>
            <a:ext cx="2286000" cy="101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43000" y="43180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月薪标准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43000" y="46355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10,000元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556000" y="4191000"/>
            <a:ext cx="2286000" cy="101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683000" y="43180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缴纳比例(公司)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683000" y="46355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12%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096000" y="4191000"/>
            <a:ext cx="2286000" cy="101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43180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月缴纳额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6355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1,200元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636000" y="4191000"/>
            <a:ext cx="2286000" cy="101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763000" y="43180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年累计收益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763000" y="46355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14,400元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71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结论：从“隐形福利”变为“显性收入”，吸引力实现质的飞跃。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10922000" y="571500"/>
            <a:ext cx="508000" cy="50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5842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413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影响：一场职场规则的底层重构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556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81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THE IMPACT OF RESTRUCTURING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影响分析：对员工与企业的双重冲击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B3954">
                <a:alpha val="100000"/>
              </a:srgbClr>
            </a:solidFill>
            <a:prstDash val="solid"/>
            <a:round/>
          </a:ln>
          <a:effectLst>
            <a:outerShdw dir="5400000" dist="63500" blurRad="127000" algn="tl" rotWithShape="false">
              <a:srgbClr val="0B395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1905000"/>
            <a:ext cx="762000" cy="76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2032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对员工：权益意识觉醒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4572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08333"/>
              </a:lnSpc>
              <a:buClr>
                <a:srgbClr val="333333"/>
              </a:buClr>
              <a:buFont typeface="Wingdings"/>
              <a:buChar char="v"/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入职谈判必选项：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公积金将成为衡量公司正规性的基本标准，权益意识全面觉醒。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08333"/>
              </a:lnSpc>
              <a:buClr>
                <a:srgbClr val="333333"/>
              </a:buClr>
              <a:buFont typeface="Wingdings"/>
              <a:buChar char="v"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离职追讨成常态：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终结“离职不翻旧账”潜规则，维护自身合法权益成为共识。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B3954">
                <a:alpha val="100000"/>
              </a:srgbClr>
            </a:solidFill>
            <a:prstDash val="solid"/>
            <a:round/>
          </a:ln>
          <a:effectLst>
            <a:outerShdw dir="5400000" dist="63500" blurRad="127000" algn="tl" rotWithShape="false">
              <a:srgbClr val="0B395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604000" y="1905000"/>
            <a:ext cx="762000" cy="76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7493000" y="2032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对企业：合规成本重构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2794000"/>
            <a:ext cx="4572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08333"/>
              </a:lnSpc>
              <a:buClr>
                <a:srgbClr val="333333"/>
              </a:buClr>
              <a:buFont typeface="Wingdings"/>
              <a:buChar char="v"/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合规成本显著上升：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过去靠不缴公积金节省的利润将不复存在，经营成本面临结构性调整。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08333"/>
              </a:lnSpc>
              <a:buClr>
                <a:srgbClr val="333333"/>
              </a:buClr>
              <a:buFont typeface="Wingdings"/>
              <a:buChar char="v"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加速行业洗牌：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灰色地带被清除，只有合规经营的企业才能在竞争中生存发展。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B395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6705600"/>
            <a:ext cx="2540000" cy="1524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行动建议：给打工人的3个实在建议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587500"/>
            <a:ext cx="889000" cy="889000"/>
          </a:xfrm>
          <a:prstGeom prst="roundRect">
            <a:avLst>
              <a:gd name="adj" fmla="val 14285"/>
            </a:avLst>
          </a:prstGeom>
          <a:solidFill>
            <a:srgbClr val="0B395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49" b="49"/>
          <a:stretch>
            <a:fillRect/>
          </a:stretch>
        </p:blipFill>
        <p:spPr>
          <a:xfrm rot="0" flipH="false" flipV="false">
            <a:off x="1117600" y="1905000"/>
            <a:ext cx="558800" cy="25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2032000" y="15875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01. 入职谈判：落实书面合同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032000" y="19685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将公积金缴纳的基数和比例明确写入劳动合同，拒绝任何口头承诺或“自愿放弃”协议，确保权益有法可依。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92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3111500"/>
            <a:ext cx="889000" cy="889000"/>
          </a:xfrm>
          <a:prstGeom prst="roundRect">
            <a:avLst>
              <a:gd name="adj" fmla="val 14285"/>
            </a:avLst>
          </a:prstGeom>
          <a:solidFill>
            <a:srgbClr val="0B395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143000" y="3302000"/>
            <a:ext cx="508000" cy="50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2032000" y="31115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02. 主动维权：向中心投诉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032000" y="34925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若公司未缴或未足额缴纳，直接向当地住房公积金管理中心投诉。提前准备好劳动合同、工资流水等关键证据。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445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" y="4635500"/>
            <a:ext cx="889000" cy="889000"/>
          </a:xfrm>
          <a:prstGeom prst="roundRect">
            <a:avLst>
              <a:gd name="adj" fmla="val 14285"/>
            </a:avLst>
          </a:prstGeom>
          <a:solidFill>
            <a:srgbClr val="0B395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48260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2032000" y="46355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03. 追溯旧账：无时效限制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032000" y="50165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即使已经离职，也有权投诉前公司，要求补缴在职期间的公积金。公积金追缴没有时效限制，历史欠账也可追回。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B395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总结：回归劳动报酬的本质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635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B3954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0066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核心观点：权益回归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24000" y="24130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公积金不是老板的施舍，而是员工劳动报酬的一部分，是法律赋予的基本权益，不可被剥夺。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683000"/>
            <a:ext cx="635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B3954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B39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39116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改革本质：重塑公平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24000" y="43180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将本该属于劳动者的钱从企业超额利润中归还，重构更公平、更健康的职场生态，推动规范化发展。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2540000" cy="2540000"/>
          </a:xfrm>
          <a:prstGeom prst="ellipse">
            <a:avLst/>
          </a:prstGeom>
          <a:solidFill>
            <a:srgbClr val="0B395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8382000" y="2286000"/>
            <a:ext cx="2032000" cy="203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8128000" y="444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公平与正义的回归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5880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0B395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" y="56515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B3954"/>
                </a:solidFill>
                <a:latin typeface="Noto Sans SC"/>
                <a:ea typeface="Noto Sans SC"/>
                <a:cs typeface="Noto Sans SC"/>
                <a:sym typeface="Noto Sans SC"/>
              </a:rPr>
              <a:t>“不仅是经济上的还利于民，更是规则上的拨乱反正。”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2286000"/>
            <a:ext cx="10972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36830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 spc="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感谢大家的聆听与关注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