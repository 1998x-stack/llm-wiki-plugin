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notesSlides/notesSlide1.xml" Type="http://schemas.openxmlformats.org/officeDocument/2006/relationships/notesSlide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46" Target="notesSlides/notesSlide17.xml" Type="http://schemas.openxmlformats.org/officeDocument/2006/relationships/notesSlide"/><Relationship Id="rId47" Target="notesSlides/notesSlide18.xml" Type="http://schemas.openxmlformats.org/officeDocument/2006/relationships/notesSlide"/><Relationship Id="rId48" Target="notesSlides/notesSlide19.xml" Type="http://schemas.openxmlformats.org/officeDocument/2006/relationships/notesSlide"/><Relationship Id="rId49" Target="notesSlides/notesSlide20.xml" Type="http://schemas.openxmlformats.org/officeDocument/2006/relationships/notesSlide"/><Relationship Id="rId50" Target="notesSlides/notesSlide21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和大家一起探讨一个曾经家喻户晓的品牌——九阳，以及它旗下两款标志性产品——豆浆机和破壁机的兴衰历程。这不仅仅是一个品牌的故事，更是中国小家电行业发展的一个缩影，希望能从中汲取一些宝贵的启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五个部分。首先，我们将回顾豆浆机的诞生与初期的沉寂；接着，探讨三聚氰胺事件如何成为其爆发的契机；然后，分析其衰落的核心原因——清洗难题；之后，我们将看到破壁机如何复刻了相似的命运；最后，总结九阳的困境，并反思整个小家电行业的发展启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让我们进入第一章，看看故事的起点——世界上第一台全自动豆浆机是如何诞生，以及它在最初的十几年里为何默默无闻。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故事始于1994年，一位名叫王旭宁的年轻人发明了世界上第一台全自动豆浆机。这个发明将传统豆浆制作中繁琐的步骤整合到了一起，一键操作，15分钟就能喝上热豆浆，在当时无疑是一项黑科技。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而，这个看似解决了刚需的发明，在诞生后的14年里却一直不温不火。主要原因有三点：价格昂贵，超出了当时普通家庭的消费能力；消费习惯上，人们更习惯于购买现成的豆浆；以及新产品需要时间来被市场认知和接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转机出现在2008年，一场突如其来的食品安全危机，意外地将豆浆机推向了风口浪尖。这就是我们第二章要探讨的内容。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2008年的三聚氰胺事件，让整个乳制品行业陷入信任危机。消费者开始恐慌，转而寻求更安全的饮食方式。这时，能够自制豆浆的豆浆机，就从一个可有可无的小家电，变成了守护家庭健康的必需品。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风口之下，九阳的业绩迎来了爆发式增长。2008年，豆浆机销量一举突破千万台，营收和市场份额也达到了顶峰，并成功上市，成为了行业内的绝对巨头。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然而，盛极而衰的伏笔早已埋下。豆浆机虽然解决了制作的问题，却带来了一个更令人头疼的问题——清洗。这就是我们第三章要讨论的核心内容。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用户很快发现，豆浆机的使用体验并不完美。制作豆浆只需要几分钟，但清洗那个布满豆渣的滤网和糊底的加热盘，却要花费大量时间和精力。这种糟糕的体验，让很多用户在新鲜劲过后就将机器束之高阁。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用户体验的短板直接反映在市场表现上。从2010年开始，豆浆机市场增长乏力，九阳的相关业务营收也开始持续下滑，曾经的明星产品，开始走向衰落。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就在豆浆机逐渐失势的时候，另一款产品——破壁机，接过了接力棒，上演了一场相似的市场狂欢。第四章，我们来看看破壁机的故事。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破壁机的成功，首先是一场营销的胜利。它巧妙地将“高速搅拌机”包装成“破壁机”，并赋予其“打破细胞壁、释放营养”的养生概念，精准地击中了消费者的痛点，迅速走红。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除了概念营销，国内厂商还对破壁机进行了本土化改造，比如增加加热功能，使其更适合制作豆浆、粥品等中式热饮。这些改进让破壁机迅速引爆市场，九阳也再次成为受益者。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然而，历史总是惊人的相似。破壁机虽然解决了豆浆机的残渣问题，却带来了新的致命问题：巨大的噪音和依然不便的清洗。这些问题让它重蹈了豆浆机的覆辙。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用户体验的不佳，再次导致了市场的衰退。从2018年开始，破壁机市场规模连续下滑，曾经的“厨房新宠”，最终也难逃被遗忘的命运。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核心业务的接连失利，让九阳陷入了困境。在最后一章，我们将探讨九阳的转型尝试，并总结整个小家电行业的发展启示。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面对困境，九阳尝试了多元化转型，涉足吸尘器、扫地机器人等多个领域。但由于品牌形象与豆浆机深度绑定，消费者难以认可其在其他领域的产品，再加上市场竞争激烈，这些尝试大多以失败告终。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九阳的故事，折射出整个小家电行业的共性问题。这个行业技术门槛低，容易跟风，很多产品靠营销概念吸引眼球，但缺乏真正的用户价值。这提醒我们，任何产品的成功，最终都要回归到解决真实需求和提供良好体验的本质上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最后，用一句话来总结我们今天的分享：所有脱离了真实需求的产品，无论营销做得多好，最终的宿命，都是被遗忘。希望这个案例能给大家带来一些启发。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我的分享到此结束，感谢大家的观看！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0.svg" Type="http://schemas.openxmlformats.org/officeDocument/2006/relationships/image"/><Relationship Id="rId11" Target="../media/image21.jpeg" Type="http://schemas.openxmlformats.org/officeDocument/2006/relationships/image"/><Relationship Id="rId12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30.jpe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42.jpe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5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9.jpe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5.xml" Type="http://schemas.openxmlformats.org/officeDocument/2006/relationships/notesSlide"/><Relationship Id="rId2" Target="../media/image2.jpeg" Type="http://schemas.openxmlformats.org/officeDocument/2006/relationships/image"/><Relationship Id="rId3" Target="../media/image42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62.png" Type="http://schemas.openxmlformats.org/officeDocument/2006/relationships/image"/><Relationship Id="rId9" Target="../media/image6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6.xml" Type="http://schemas.openxmlformats.org/officeDocument/2006/relationships/notesSlide"/><Relationship Id="rId2" Target="../media/image2.jpe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2.jpe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71.png" Type="http://schemas.openxmlformats.org/officeDocument/2006/relationships/image"/><Relationship Id="rId7" Target="../media/image72.svg" Type="http://schemas.openxmlformats.org/officeDocument/2006/relationships/image"/><Relationship Id="rId8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3.png" Type="http://schemas.openxmlformats.org/officeDocument/2006/relationships/image"/><Relationship Id="rId4" Target="../media/image74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75.png" Type="http://schemas.openxmlformats.org/officeDocument/2006/relationships/image"/><Relationship Id="rId8" Target="../media/image76.svg" Type="http://schemas.openxmlformats.org/officeDocument/2006/relationships/image"/><Relationship Id="rId9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21.xml" Type="http://schemas.openxmlformats.org/officeDocument/2006/relationships/notesSlide"/><Relationship Id="rId4" Target="../media/image7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414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2413000"/>
            <a:ext cx="1143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从巅峰到沉寂：九阳豆浆机与破壁机的兴衰启示录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8594" flipH="false" flipV="false">
            <a:off x="3556008" y="3295650"/>
            <a:ext cx="508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8860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2286000" y="3556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一个中国小家电品牌的风口狂欢与宿命反思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27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556000" y="1016000"/>
            <a:ext cx="6350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3810000" y="1270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254500" y="1168400"/>
            <a:ext cx="558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传奇开端：</a:t>
            </a: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一台豆浆机的诞生与沉寂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56000" y="1955800"/>
            <a:ext cx="6350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810000" y="22098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254500" y="2108200"/>
            <a:ext cx="558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风口降临：</a:t>
            </a: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三聚氰胺事件下的意外爆发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56000" y="2895600"/>
            <a:ext cx="6350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3810000" y="31496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254500" y="3048000"/>
            <a:ext cx="558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致命短板：</a:t>
            </a: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“制作5分钟，清洗两小时”的魔咒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556000" y="3835400"/>
            <a:ext cx="6350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810000" y="40894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4254500" y="3987800"/>
            <a:ext cx="558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神话复刻：</a:t>
            </a: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破壁机的营销胜利与相同宿命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556000" y="4775200"/>
            <a:ext cx="6350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3810000" y="50292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4254500" y="4927600"/>
            <a:ext cx="558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困局与反思：</a:t>
            </a: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九阳的挣扎与行业启示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6096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3D3D3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REVIEW OF SOYBEAN MILK MAKER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414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1270000"/>
            <a:ext cx="10922000" cy="4318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12700" cmpd="sng" cap="flat">
            <a:solidFill>
              <a:srgbClr val="B8860B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1778000"/>
            <a:ext cx="76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2159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 spc="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传奇开端：一台豆浆机的诞生与沉寂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715000" y="3683000"/>
            <a:ext cx="76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4064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 spc="200">
                <a:solidFill>
                  <a:srgbClr val="F5F5DC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THE LEGENDARY BEGINNING &amp; SILENCE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41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1994年：世界第一台全自动豆浆机诞生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B8860B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609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558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651000" y="17780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发明者：王旭宁 (25岁)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年轻工程师的创新突破，开启了厨房小家电的新篇章。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794000"/>
            <a:ext cx="609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0988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651000" y="29210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核心功能：一键智能整合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将泡豆、磨浆、过滤、熬煮等繁琐工序集成为一键自动化操作。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937000"/>
            <a:ext cx="609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2418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651000" y="40640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效率革命：15分钟即享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极大缩短制作时间，便捷高效，重新定义了早餐生活方式。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080000"/>
            <a:ext cx="609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3848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651000" y="52070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历史意义：厨房黑科技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彻底简化传统流程，是中国小家电领域一项具有里程碑意义的创新。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rcRect l="0" r="0" t="0" b="0"/>
          <a:stretch>
            <a:fillRect/>
          </a:stretch>
        </p:blipFill>
        <p:spPr>
          <a:xfrm rot="0" flipH="false" flipV="false">
            <a:off x="8636000" y="1778000"/>
            <a:ext cx="2794000" cy="2794000"/>
          </a:xfrm>
          <a:prstGeom prst="roundRect">
            <a:avLst>
              <a:gd name="adj" fmla="val 4545"/>
            </a:avLst>
          </a:prstGeom>
          <a:noFill/>
          <a:ln w="25400" cmpd="sng" cap="flat">
            <a:solidFill>
              <a:srgbClr val="B8860B">
                <a:alpha val="10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9" id="19"/>
          <p:cNvSpPr/>
          <p:nvPr/>
        </p:nvSpPr>
        <p:spPr>
          <a:xfrm rot="0" flipH="false" flipV="false">
            <a:off x="8636000" y="4699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90年代的厨房场景：创新诞生的土壤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636000" y="5334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D3D3D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“将复杂留给机器，</a:t>
            </a:r>
            <a:r>
              <a:rPr lang="en-US" b="false" i="false" strike="noStrike" u="none" sz="1400">
                <a:solidFill>
                  <a:srgbClr val="D3D3D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D3D3D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D3D3D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将简单带给生活”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41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609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发明后的14年：叫好不叫座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193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87500" y="1778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价格高昂，超出承受力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87500" y="21590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90年代几百元的售价相当于普通家庭一个月的工资，对于大众来说属于奢侈品，难以普及。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9845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528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587500" y="3111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消费习惯难以改变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587500" y="34925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街边早点铺即可轻松买到廉价豆浆，消费者缺乏自制豆浆的动力，习惯了“即买即饮”。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318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6863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587500" y="4445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市场认知教育成本高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587500" y="48260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作为一款革命性的新产品，消费者需要时间来了解其便利性和价值，市场培育周期较长。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874000" y="1778000"/>
            <a:ext cx="3048000" cy="3048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 cmpd="sng" cap="flat">
            <a:solidFill>
              <a:srgbClr val="B8860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8001000" y="1905000"/>
            <a:ext cx="2794000" cy="279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0" id="20"/>
          <p:cNvSpPr/>
          <p:nvPr/>
        </p:nvSpPr>
        <p:spPr>
          <a:xfrm rot="0" flipH="false" flipV="false">
            <a:off x="7874000" y="4953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90年代中国家庭的厨房场景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715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“一项伟大的发明，往往需要等待时代的成熟。”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270000"/>
            <a:ext cx="11176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12700" cmpd="sng" cap="flat">
            <a:solidFill>
              <a:srgbClr val="B8860B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1651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 spc="4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02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286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第二章：风口降临：三聚氰胺事件下的意外爆发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34376" flipH="false" flipV="false">
            <a:off x="5461032" y="3295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8860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683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5F5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2008年的食品安全危机，意外地成为了豆浆机行业的转折点。</a:t>
            </a:r>
            <a:r>
              <a:rPr lang="en-US" b="false" i="false" strike="noStrike" u="none" sz="1600">
                <a:solidFill>
                  <a:srgbClr val="F5F5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F5F5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F5F5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一场突如其来的信任危机，如何将一个小众品类推向全民普及的风口浪尖？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826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41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9550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2008年：一场食品安全危机的意外馈赠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B8860B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651000"/>
            <a:ext cx="3810000" cy="2540000"/>
          </a:xfrm>
          <a:prstGeom prst="roundRect">
            <a:avLst>
              <a:gd name="adj" fmla="val 5000"/>
            </a:avLst>
          </a:prstGeom>
          <a:noFill/>
          <a:ln w="12700" cmpd="sng" cap="flat">
            <a:solidFill>
              <a:srgbClr val="B8860B">
                <a:alpha val="10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7" id="7"/>
          <p:cNvSpPr/>
          <p:nvPr/>
        </p:nvSpPr>
        <p:spPr>
          <a:xfrm rot="0" flipH="false" flipV="false">
            <a:off x="762000" y="4318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2008年三聚氰胺事件新闻报道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953000" y="1651000"/>
            <a:ext cx="5842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143500" y="1841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651500" y="1778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信任崩塌：行业危机爆发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651500" y="2133600"/>
            <a:ext cx="5016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三聚氰胺事件严重打击了消费者信心，乳制品行业陷入前所未有的信任危机。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953000" y="2857500"/>
            <a:ext cx="5842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143500" y="3048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651500" y="29845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需求逆转：从“非必需”到“刚需”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651500" y="3340100"/>
            <a:ext cx="5016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豆浆机迅速转变为保障家庭饮食安全的关键家电，成为消费者自救的重要选择。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953000" y="4064000"/>
            <a:ext cx="5842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143500" y="42545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5651500" y="4191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核心逻辑：焦虑催生自制需求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651500" y="4546600"/>
            <a:ext cx="5016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对食品安全的焦虑促使消费者转向“自制食品”，豆浆机成为解决痛点的最佳方案。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461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“危机中往往孕育着转机，豆浆机行业的爆发正是源于对安全的极致渴望。”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疯狂增长：从默默无闻到行业巨头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5F5DC">
              <a:alpha val="5000"/>
            </a:srgbClr>
          </a:solidFill>
          <a:ln w="12700" cmpd="sng" cap="flat">
            <a:solidFill>
              <a:srgbClr val="B8860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1651000"/>
            <a:ext cx="393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销量爆发式增长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2008年豆浆机销量突破</a:t>
            </a: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1000万台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048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5F5DC">
              <a:alpha val="5000"/>
            </a:srgbClr>
          </a:solidFill>
          <a:ln w="12700" cmpd="sng" cap="flat">
            <a:solidFill>
              <a:srgbClr val="B8860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651000" y="3175000"/>
            <a:ext cx="393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绝对市场垄断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营收达43亿元，市场份额超</a:t>
            </a: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80%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572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5F5DC">
              <a:alpha val="5000"/>
            </a:srgbClr>
          </a:solidFill>
          <a:ln w="12700" cmpd="sng" cap="flat">
            <a:solidFill>
              <a:srgbClr val="B8860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9530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4699000"/>
            <a:ext cx="393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资本市场高度认可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A股上市，市值一度飙升至</a:t>
            </a: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138亿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 flipH="false" flipV="false">
            <a:off x="6223000" y="1524000"/>
            <a:ext cx="5207000" cy="3556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223000" y="5334000"/>
            <a:ext cx="520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2008年是九阳发展的里程碑，不仅在销量上实现了千万级突破，更在资本市场确立了行业巨头的地位。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1778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 spc="400">
                <a:solidFill>
                  <a:srgbClr val="F5F5DC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03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" y="2286000"/>
            <a:ext cx="1143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致命短板：“制作5分钟，清洗两小时”的魔咒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34376" flipH="false" flipV="false">
            <a:off x="5461032" y="3676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8860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93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5F5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从便捷到繁琐：技术革新背后的用户体验痛点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B8860B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0F0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7048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繁荣背后的隐患：清洗的噩梦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651000"/>
            <a:ext cx="2794000" cy="2794000"/>
          </a:xfrm>
          <a:prstGeom prst="roundRect">
            <a:avLst>
              <a:gd name="adj" fmla="val 6818"/>
            </a:avLst>
          </a:prstGeom>
          <a:noFill/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4064000" y="1524000"/>
            <a:ext cx="685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318000" y="18415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953000" y="16510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滤网难清：豆渣残留的重灾区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953000" y="2032000"/>
            <a:ext cx="558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细密的金属滤网极易残留细小豆渣，清水无法冲净，必须使用刷子反复刷洗才能去除。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064000" y="2857500"/>
            <a:ext cx="685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318000" y="31750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953000" y="29845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底盘糊底：高温焦渍难根除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953000" y="3365500"/>
            <a:ext cx="558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加热底盘在熬煮过程中容易产生顽固焦渍，粘附力强，普通清洗手段难以彻底清除。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064000" y="4191000"/>
            <a:ext cx="685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318000" y="45085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953000" y="43180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用户体验：制作5分钟，清洗两小时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953000" y="4699000"/>
            <a:ext cx="558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繁琐的清洗流程极大地降低了产品的使用频率，用户满意度下滑，“买后即吃灰”成为常态。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4092" flipH="false" flipV="false">
            <a:off x="762004" y="583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8860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762000" y="5969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3D3D3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传统豆浆机的结构缺陷，正成为制约行业进一步发展的关键瓶颈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A0A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盛极而衰：市场增长的戛然而止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19200"/>
            <a:ext cx="76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18034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增长疲软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24000" y="2159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从2010年开始，豆浆机市场整体增长动力不足，行业进入停滞期。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9845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175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524000" y="31369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营收持续下滑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524000" y="34925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2010至2017年间，核心业务营收从40.4亿元跌落至31.5亿元。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318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508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524000" y="44704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口碑与需求萎缩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524000" y="4826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糟糕的用户体验（如难清洗）导致口碑下滑，直接引发市场需求萎缩。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096000" y="1651000"/>
            <a:ext cx="5334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D3D3D3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 flipH="false" flipV="false">
            <a:off x="6223000" y="1778000"/>
            <a:ext cx="5080000" cy="279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62000" y="5969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“用户体验的短板直接反映在市场表现上，曾经的明星产品开始走向衰落。”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2032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 spc="400">
                <a:solidFill>
                  <a:srgbClr val="F5F5DC"/>
                </a:solidFill>
                <a:latin typeface="SimHei"/>
                <a:ea typeface="SimHei"/>
                <a:cs typeface="SimHei"/>
                <a:sym typeface="SimHei"/>
              </a:rPr>
              <a:t>CHAPTER 04 · MARKETING VICTORY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54000" y="2540000"/>
            <a:ext cx="1168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第四章：神话复刻：破壁机的营销胜利与相同宿命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34376" flipH="false" flipV="false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5F5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937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5F5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从豆浆机到破壁机，一场似曾相识的市场狂欢与行业宿命轮回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826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0" y="6807200"/>
            <a:ext cx="1219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41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1074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一场营销的胜利：从“高速搅拌机”到“破壁机”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263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8860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635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87500" y="1803400"/>
            <a:ext cx="533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名称由来：概念的华丽转身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87500" y="2159000"/>
            <a:ext cx="533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原名“高速搅拌机”，借用台湾养生书籍概念更名为“破壁机”，名称更具吸引力与神秘感。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984500"/>
            <a:ext cx="635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175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587500" y="3136900"/>
            <a:ext cx="533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营销概念：击中健康痛点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587500" y="3492500"/>
            <a:ext cx="533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主打“打破细胞壁，释放深层营养”，精准迎合消费者对健康养生、高效吸收的迫切需求。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318000"/>
            <a:ext cx="635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508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587500" y="4470400"/>
            <a:ext cx="533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市场效果：厨房明星的诞生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587500" y="4826000"/>
            <a:ext cx="533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通过成功的概念包装与情感共鸣，迅速打开市场，从普通电器跃升为高端养生厨房明星产品。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874000" y="1651000"/>
            <a:ext cx="2794000" cy="3810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solidFill>
              <a:srgbClr val="B8860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8001000" y="1651000"/>
            <a:ext cx="2540000" cy="381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0" id="20"/>
          <p:cNvSpPr/>
          <p:nvPr/>
        </p:nvSpPr>
        <p:spPr>
          <a:xfrm rot="0" flipH="false" flipV="false">
            <a:off x="7874000" y="5588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5F5DC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早期“破壁机”概念广告海报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8051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本土化改造：解决痛点，引爆市场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B8860B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2" b="2"/>
          <a:stretch>
            <a:fillRect/>
          </a:stretch>
        </p:blipFill>
        <p:spPr>
          <a:xfrm rot="0" flipH="false" flipV="false">
            <a:off x="952500" y="1651000"/>
            <a:ext cx="1143000" cy="2374900"/>
          </a:xfrm>
          <a:prstGeom prst="roundRect">
            <a:avLst>
              <a:gd name="adj" fmla="val 11111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30000"/>
              </a:srgbClr>
            </a:outerShdw>
          </a:effectLst>
        </p:spPr>
      </p:pic>
      <p:sp>
        <p:nvSpPr>
          <p:cNvPr name="AutoShape 7" id="7"/>
          <p:cNvSpPr/>
          <p:nvPr/>
        </p:nvSpPr>
        <p:spPr>
          <a:xfrm rot="0" flipH="false" flipV="false">
            <a:off x="2286000" y="1651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核心改造：加热功能集成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86000" y="2159000"/>
            <a:ext cx="3302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九阳：</a:t>
            </a: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推出冷热两用破壁机，集成加热功能，完美适配中国家庭制作豆浆、粥品等热饮的习惯。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美的：</a:t>
            </a: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推出带加热底盘的破壁机，从硬件结构上彻底解决加热难题，提升产品实用性。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397000"/>
            <a:ext cx="5207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B8860B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1651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市场爆发：规模翻倍增长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159000"/>
            <a:ext cx="177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2017年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28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22.6</a:t>
            </a: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亿元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445500" y="23495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9144000" y="2159000"/>
            <a:ext cx="177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2018年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2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46.1</a:t>
            </a: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亿元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3175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精准的本土化改造消除了用户使用障碍，使得破壁机市场在短短一年内实现</a:t>
            </a:r>
            <a:r>
              <a:rPr lang="en-US" b="true" i="false" strike="noStrike" u="none" sz="14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翻倍增长</a:t>
            </a: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，成为小家电领域的现象级爆品。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B8860B">
                  <a:alpha val="0"/>
                </a:srgbClr>
              </a:gs>
              <a:gs pos="50000">
                <a:srgbClr val="B8860B">
                  <a:alpha val="80000"/>
                </a:srgbClr>
              </a:gs>
              <a:gs pos="100000">
                <a:srgbClr val="B8860B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58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“技术改良 + 场景适配 = 市场引爆”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41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7048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历史的重演：新的“致命”问题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7048500" cy="381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778000"/>
            <a:ext cx="2794000" cy="2794000"/>
          </a:xfrm>
          <a:prstGeom prst="roundRect">
            <a:avLst>
              <a:gd name="adj" fmla="val 6818"/>
            </a:avLst>
          </a:prstGeom>
          <a:noFill/>
          <a:ln w="25400" cmpd="sng" cap="flat">
            <a:solidFill>
              <a:srgbClr val="B8860B">
                <a:alpha val="5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7" id="7"/>
          <p:cNvSpPr/>
          <p:nvPr/>
        </p:nvSpPr>
        <p:spPr>
          <a:xfrm rot="0" flipH="false" flipV="false">
            <a:off x="4064000" y="1651000"/>
            <a:ext cx="685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318000" y="19685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953000" y="17780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噪音巨大：如同电钻的轰鸣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953000" y="2159000"/>
            <a:ext cx="558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高速电机带来八九十分贝的噪音，严重影响日常生活作息，甚至引发邻里矛盾。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064000" y="2984500"/>
            <a:ext cx="685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318000" y="33020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953000" y="31115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清洗依旧麻烦：结构复杂难打理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953000" y="3492500"/>
            <a:ext cx="558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厚重的杯体搭配复杂的刀头结构，清洁死角多，每次使用后的清洗过程费时又费力。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064000" y="4318000"/>
            <a:ext cx="685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318000" y="46355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4953000" y="44450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体验折扣：新痛点重蹈覆辙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953000" y="4826000"/>
            <a:ext cx="558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虽然解决了豆浆残渣问题，但噪音与清洗的新痛点让用户体验再次大打折扣。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84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B8860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“技术的进步有时只是用一个问题替代了另一个问题。”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41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再次沉寂：风口过后的一地鸡毛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923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651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市场衰退：增长戛然而止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2032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2018年达到规模顶峰后，市场开始持续负增长，热度迅速消退。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8575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2258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2984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用户弃用：体验痛点难消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24000" y="3365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巨大的噪音和繁琐的清洗流程，导致大量产品被闲置，需求快速萎缩。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91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5593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318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宿命轮回：重蹈覆辙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524000" y="4699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破壁机最终走上了和豆浆机相似的道路，从一时风口走向长期沉寂。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 flipH="false" flipV="false">
            <a:off x="6223000" y="1524000"/>
            <a:ext cx="5207000" cy="3302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62000" y="584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“缺乏核心技术壁垒与持续体验优化，再炫目的风口也终将回归理性。”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1905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 spc="4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05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79400" y="2413000"/>
            <a:ext cx="11620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困局与反思：九阳的挣扎与行业启示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5000" y="3302000"/>
            <a:ext cx="762000" cy="254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34925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 spc="100">
                <a:solidFill>
                  <a:srgbClr val="F5F5DC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DILEMMA AND REFLECTION: JOYOUNG'S STRUGGLE AND INDUSTRY INSPIRATION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42000" y="4826000"/>
            <a:ext cx="508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41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609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转型之困：品牌心智的枷锁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651000"/>
            <a:ext cx="2540000" cy="2540000"/>
          </a:xfrm>
          <a:prstGeom prst="roundRect">
            <a:avLst>
              <a:gd name="adj" fmla="val 5000"/>
            </a:avLst>
          </a:prstGeom>
          <a:noFill/>
          <a:ln w="12700" cmpd="sng" cap="flat">
            <a:solidFill>
              <a:srgbClr val="B8860B">
                <a:alpha val="10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7" id="7"/>
          <p:cNvSpPr/>
          <p:nvPr/>
        </p:nvSpPr>
        <p:spPr>
          <a:xfrm rot="0" flipH="false" flipV="false">
            <a:off x="762000" y="4445000"/>
            <a:ext cx="254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5F5DC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457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多元化尝试领域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4953000"/>
            <a:ext cx="228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• 清洁电器（吸尘器、扫地机）</a:t>
            </a: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• 其他厨房小家电（空气炸锅等）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810000" y="1651000"/>
            <a:ext cx="711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064000" y="19050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699000" y="18415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品牌心智固化：难以跳出“豆浆机”标签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2286000"/>
            <a:ext cx="584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在消费者认知中，九阳与“豆浆机”深度绑定，形成了强烈的品类联想。这种固化的心智导致消费者难以信任和接受其在其他品类（如吸尘器）的专业度，增加了市场教育成本。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810000" y="3683000"/>
            <a:ext cx="711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064000" y="39370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699000" y="38735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市场竞争激烈：巨头环伺，缺乏核心优势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99000" y="4318000"/>
            <a:ext cx="584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新领域面临美的、海尔等综合家电巨头的压制，同时还要应对小熊、摩飞等新兴品牌的差异化竞争。九阳在这些领域缺乏技术壁垒和渠道优势，难以突围。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810000" y="5588000"/>
            <a:ext cx="711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F5F5DC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“成也豆浆机，困也豆浆机”，品牌资产的双刃剑效应在此体现得淋漓尽致。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90551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行业启示：风口之上，更需回归本质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263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8860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08200" y="20320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89000" y="279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技术门槛低，竞争激烈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02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小家电行业技术壁垒不高，容易陷入同质化竞争和价格战，企业需寻找差异化突破口。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91200" y="2032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572000" y="279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警惕“伪需求”陷阱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3302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避免追逐仅靠营销创造的“伪需求”，这类产品热度过后必然被市场淘汰，需回归真实痛点。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74200" y="2032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255000" y="279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回归产品本质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3302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成功的产品必须真正解决用户的痛点，提供良好的用户体验，而不是仅仅依赖概念炒作。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334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“ 任何产品的成功，最终都要回归到解决真实需求和提供良好体验的本质上来 ”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651000"/>
            <a:ext cx="1117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所有脱离真实需求的产品，最终都将被遗忘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7188" flipH="false" flipV="false">
            <a:off x="4826016" y="2787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8860B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175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家电的本质是回归实用，营销只能带来一时的狂欢，</a:t>
            </a:r>
            <a:r>
              <a:rPr lang="en-US" b="false" i="false" strike="noStrike" u="none" sz="18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解决真实痛点才是长久之道。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715000" y="5080000"/>
            <a:ext cx="76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749800" y="2413000"/>
            <a:ext cx="2692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B8860B"/>
                </a:solidFill>
                <a:latin typeface="Noto Serif SC"/>
                <a:ea typeface="Noto Serif SC"/>
                <a:cs typeface="Noto Serif SC"/>
                <a:sym typeface="Noto Serif SC"/>
              </a:rPr>
              <a:t>感谢观看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32385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 spc="400">
                <a:solidFill>
                  <a:srgbClr val="F5F5DC"/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WATCHING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3683000"/>
            <a:ext cx="762000" cy="254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