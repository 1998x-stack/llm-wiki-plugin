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notesSlides/notesSlide1.xml" Type="http://schemas.openxmlformats.org/officeDocument/2006/relationships/notesSlide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37" Target="notesSlides/notesSlide13.xml" Type="http://schemas.openxmlformats.org/officeDocument/2006/relationships/notesSlide"/><Relationship Id="rId38" Target="notesSlides/notesSlide14.xml" Type="http://schemas.openxmlformats.org/officeDocument/2006/relationships/notesSlide"/><Relationship Id="rId39" Target="notesSlides/notesSlide15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6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开场用悬念引入：2005年，华尔街有个男人拿着1亿美元，赌美国楼市会崩盘，所有人都笑他是送钱的疯子。但没人想到，短短2年后，这个笑话会变成一场席卷全球的金融海啸，让千万普通人倾家荡产。今天我们就把这场危机，彻底讲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今天的分享，我们会顺着危机的完整时间线，从泡沫的诞生，到华尔街的骗局，再到危机爆发的全过程，最后聊聊这场危机留给我们的，最核心的启示。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这个故事，不是电影虚构的爽文，是2008年次贷危机里，真实发生的一幕。而这个被当成疯子的男人，只是这场危机里，少数看透真相的人之一。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所有的泡沫，都不是凭空出现的。这场危机的源头，就是美联储为了救市，打开了低利率的潘多拉魔盒，给房地产泡沫，浇上了第一桶汽油。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当所有人都相信房价永远不会跌，最离谱的事情就变得理所当然。连会所里的脱衣舞女郎，都能零首付买十几套房，你就知道，这个泡沫已经吹到了什么地步。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银行一点都不慌，因为他们从一开始，就没打算把这些高风险贷款留在自己手里。通过MBS这个工具，他们左手放贷，右手卖债，稳赚手续费，风险全甩给了别人。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这就是整场骗局最核心的部分。本该作为市场看门人的评级机构，为了佣金放弃了底线，把一文不值的垃圾债券，包装成了全球疯抢的零风险资产。5000万美国人的房贷合同，被包装成20亿份债券，卖向了全世界。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这就是伯里和投行签的对赌合约的本质。在当时的华尔街，所有人都觉得卖CDS是白捡钱，却完全没意识到，他们赌上的，是整个公司的身家性命。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伯里能看透泡沫，靠的不是运气，是极致的理性。当所有人都在狂欢的时候，他沉下心，一页一页翻完了没人看的底层合同，用数据确认了泡沫的存在，然后用全部身家，赌整个美国楼市会崩盘。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除了伯里，还有很多人通过不同的路径，看到了泡沫的真相。他们有的靠严谨的实地调研，有的靠极致的数据分析，最终都在这场危机里，拿到了属于逆势者的战利品。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最考验人性的，从来不是发现真相，而是在所有人都反对你的时候，依然能坚守真相。哪怕数据已经证明泡沫就在眼前，可整个华尔街都在撒谎，这种等待的煎熬，远比我们想象的更残酷。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2008年9月15日，雷曼兄弟的破产，就像一颗核弹，彻底击穿了全球金融市场的信心。这场起源于美国楼市的泡沫破裂，正式演变成了席卷全球的金融海啸。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雷曼破产之后，整个华尔街陷入了前所未有的恐慌。那些被包装成AAA级的债券，一夜之间变成了废纸，全球的投资者都血本无归，一场美国的楼市危机，彻底变成了全世界的灾难。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这场危机里，最讽刺也最残酷的地方。催生了泡沫、赚走了千亿财富的华尔街巨头们，拿着纳税人的钱全身而退，没有一个人为此坐牢。而那些根本没参与这场狂欢的普通人，却付出了失业、无家可归的代价，为别人的贪婪买了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18年过去，再回头看这场危机，我们会发现，金融市场永远不变的，只有人性的贪婪与恐惧。泡沫永远会换个样子卷土重来，而我们能做的，就是永远保持清醒，不要相信「这次不一样」的神话。因为在金融市场里，太阳底下，从来没有新鲜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以上就是本次分享的全部内容，感谢大家的聆听。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notesSlides/notesSlide2.xml" Type="http://schemas.openxmlformats.org/officeDocument/2006/relationships/notesSlid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12" Target="../notesSlides/notesSlide3.xml" Type="http://schemas.openxmlformats.org/officeDocument/2006/relationships/notesSlid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5.xml" Type="http://schemas.openxmlformats.org/officeDocument/2006/relationships/notesSlide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36.png" Type="http://schemas.openxmlformats.org/officeDocument/2006/relationships/image"/><Relationship Id="rId9" Target="../media/image3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6.png" Type="http://schemas.openxmlformats.org/officeDocument/2006/relationships/image"/><Relationship Id="rId11" Target="../media/image47.svg" Type="http://schemas.openxmlformats.org/officeDocument/2006/relationships/image"/><Relationship Id="rId12" Target="../media/image48.png" Type="http://schemas.openxmlformats.org/officeDocument/2006/relationships/image"/><Relationship Id="rId13" Target="../media/image49.svg" Type="http://schemas.openxmlformats.org/officeDocument/2006/relationships/image"/><Relationship Id="rId14" Target="../notesSlides/notesSlide6.xml" Type="http://schemas.openxmlformats.org/officeDocument/2006/relationships/notesSlide"/><Relationship Id="rId2" Target="../media/image38.png" Type="http://schemas.openxmlformats.org/officeDocument/2006/relationships/image"/><Relationship Id="rId3" Target="../media/image39.svg" Type="http://schemas.openxmlformats.org/officeDocument/2006/relationships/image"/><Relationship Id="rId4" Target="../media/image40.png" Type="http://schemas.openxmlformats.org/officeDocument/2006/relationships/image"/><Relationship Id="rId5" Target="../media/image41.svg" Type="http://schemas.openxmlformats.org/officeDocument/2006/relationships/image"/><Relationship Id="rId6" Target="../media/image42.png" Type="http://schemas.openxmlformats.org/officeDocument/2006/relationships/image"/><Relationship Id="rId7" Target="../media/image43.svg" Type="http://schemas.openxmlformats.org/officeDocument/2006/relationships/image"/><Relationship Id="rId8" Target="../media/image44.png" Type="http://schemas.openxmlformats.org/officeDocument/2006/relationships/image"/><Relationship Id="rId9" Target="../media/image4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8.png" Type="http://schemas.openxmlformats.org/officeDocument/2006/relationships/image"/><Relationship Id="rId11" Target="../media/image59.svg" Type="http://schemas.openxmlformats.org/officeDocument/2006/relationships/image"/><Relationship Id="rId12" Target="../media/image60.png" Type="http://schemas.openxmlformats.org/officeDocument/2006/relationships/image"/><Relationship Id="rId13" Target="../media/image61.svg" Type="http://schemas.openxmlformats.org/officeDocument/2006/relationships/image"/><Relationship Id="rId14" Target="../notesSlides/notesSlide7.xml" Type="http://schemas.openxmlformats.org/officeDocument/2006/relationships/notesSlide"/><Relationship Id="rId2" Target="../media/image50.png" Type="http://schemas.openxmlformats.org/officeDocument/2006/relationships/image"/><Relationship Id="rId3" Target="../media/image51.svg" Type="http://schemas.openxmlformats.org/officeDocument/2006/relationships/image"/><Relationship Id="rId4" Target="../media/image52.png" Type="http://schemas.openxmlformats.org/officeDocument/2006/relationships/image"/><Relationship Id="rId5" Target="../media/image53.svg" Type="http://schemas.openxmlformats.org/officeDocument/2006/relationships/image"/><Relationship Id="rId6" Target="../media/image54.png" Type="http://schemas.openxmlformats.org/officeDocument/2006/relationships/image"/><Relationship Id="rId7" Target="../media/image55.svg" Type="http://schemas.openxmlformats.org/officeDocument/2006/relationships/image"/><Relationship Id="rId8" Target="../media/image56.png" Type="http://schemas.openxmlformats.org/officeDocument/2006/relationships/image"/><Relationship Id="rId9" Target="../media/image5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0.png" Type="http://schemas.openxmlformats.org/officeDocument/2006/relationships/image"/><Relationship Id="rId11" Target="../media/image71.svg" Type="http://schemas.openxmlformats.org/officeDocument/2006/relationships/image"/><Relationship Id="rId12" Target="../media/image72.png" Type="http://schemas.openxmlformats.org/officeDocument/2006/relationships/image"/><Relationship Id="rId13" Target="../media/image73.svg" Type="http://schemas.openxmlformats.org/officeDocument/2006/relationships/image"/><Relationship Id="rId14" Target="../media/image74.png" Type="http://schemas.openxmlformats.org/officeDocument/2006/relationships/image"/><Relationship Id="rId15" Target="../media/image75.svg" Type="http://schemas.openxmlformats.org/officeDocument/2006/relationships/image"/><Relationship Id="rId16" Target="../media/image76.png" Type="http://schemas.openxmlformats.org/officeDocument/2006/relationships/image"/><Relationship Id="rId17" Target="../media/image77.svg" Type="http://schemas.openxmlformats.org/officeDocument/2006/relationships/image"/><Relationship Id="rId18" Target="../media/image26.png" Type="http://schemas.openxmlformats.org/officeDocument/2006/relationships/image"/><Relationship Id="rId19" Target="../media/image27.svg" Type="http://schemas.openxmlformats.org/officeDocument/2006/relationships/image"/><Relationship Id="rId2" Target="../media/image62.png" Type="http://schemas.openxmlformats.org/officeDocument/2006/relationships/image"/><Relationship Id="rId20" Target="../notesSlides/notesSlide8.xml" Type="http://schemas.openxmlformats.org/officeDocument/2006/relationships/notesSlide"/><Relationship Id="rId3" Target="../media/image63.svg" Type="http://schemas.openxmlformats.org/officeDocument/2006/relationships/image"/><Relationship Id="rId4" Target="../media/image64.png" Type="http://schemas.openxmlformats.org/officeDocument/2006/relationships/image"/><Relationship Id="rId5" Target="../media/image65.svg" Type="http://schemas.openxmlformats.org/officeDocument/2006/relationships/image"/><Relationship Id="rId6" Target="../media/image66.png" Type="http://schemas.openxmlformats.org/officeDocument/2006/relationships/image"/><Relationship Id="rId7" Target="../media/image67.svg" Type="http://schemas.openxmlformats.org/officeDocument/2006/relationships/image"/><Relationship Id="rId8" Target="../media/image68.png" Type="http://schemas.openxmlformats.org/officeDocument/2006/relationships/image"/><Relationship Id="rId9" Target="../media/image6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9.xml" Type="http://schemas.openxmlformats.org/officeDocument/2006/relationships/notesSlid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78.png" Type="http://schemas.openxmlformats.org/officeDocument/2006/relationships/image"/><Relationship Id="rId5" Target="../media/image79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80.png" Type="http://schemas.openxmlformats.org/officeDocument/2006/relationships/image"/><Relationship Id="rId9" Target="../media/image8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88.png" Type="http://schemas.openxmlformats.org/officeDocument/2006/relationships/image"/><Relationship Id="rId11" Target="../media/image89.svg" Type="http://schemas.openxmlformats.org/officeDocument/2006/relationships/image"/><Relationship Id="rId12" Target="../media/image90.png" Type="http://schemas.openxmlformats.org/officeDocument/2006/relationships/image"/><Relationship Id="rId13" Target="../media/image91.svg" Type="http://schemas.openxmlformats.org/officeDocument/2006/relationships/image"/><Relationship Id="rId14" Target="../media/image92.png" Type="http://schemas.openxmlformats.org/officeDocument/2006/relationships/image"/><Relationship Id="rId15" Target="../media/image93.svg" Type="http://schemas.openxmlformats.org/officeDocument/2006/relationships/image"/><Relationship Id="rId16" Target="../notesSlides/notesSlide10.xml" Type="http://schemas.openxmlformats.org/officeDocument/2006/relationships/notesSlide"/><Relationship Id="rId2" Target="../media/image82.png" Type="http://schemas.openxmlformats.org/officeDocument/2006/relationships/image"/><Relationship Id="rId3" Target="../media/image83.svg" Type="http://schemas.openxmlformats.org/officeDocument/2006/relationships/image"/><Relationship Id="rId4" Target="../media/image84.png" Type="http://schemas.openxmlformats.org/officeDocument/2006/relationships/image"/><Relationship Id="rId5" Target="../media/image85.svg" Type="http://schemas.openxmlformats.org/officeDocument/2006/relationships/image"/><Relationship Id="rId6" Target="../media/image86.png" Type="http://schemas.openxmlformats.org/officeDocument/2006/relationships/image"/><Relationship Id="rId7" Target="../media/image87.svg" Type="http://schemas.openxmlformats.org/officeDocument/2006/relationships/image"/><Relationship Id="rId8" Target="../media/image80.png" Type="http://schemas.openxmlformats.org/officeDocument/2006/relationships/image"/><Relationship Id="rId9" Target="../media/image81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96.png" Type="http://schemas.openxmlformats.org/officeDocument/2006/relationships/image"/><Relationship Id="rId11" Target="../media/image97.svg" Type="http://schemas.openxmlformats.org/officeDocument/2006/relationships/image"/><Relationship Id="rId12" Target="../notesSlides/notesSlide11.xml" Type="http://schemas.openxmlformats.org/officeDocument/2006/relationships/notesSlide"/><Relationship Id="rId2" Target="../media/image94.png" Type="http://schemas.openxmlformats.org/officeDocument/2006/relationships/image"/><Relationship Id="rId3" Target="../media/image95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44.png" Type="http://schemas.openxmlformats.org/officeDocument/2006/relationships/image"/><Relationship Id="rId9" Target="../media/image4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2.xml" Type="http://schemas.openxmlformats.org/officeDocument/2006/relationships/notesSlide"/><Relationship Id="rId2" Target="../media/image98.png" Type="http://schemas.openxmlformats.org/officeDocument/2006/relationships/image"/><Relationship Id="rId3" Target="../media/image99.svg" Type="http://schemas.openxmlformats.org/officeDocument/2006/relationships/image"/><Relationship Id="rId4" Target="../media/image100.png" Type="http://schemas.openxmlformats.org/officeDocument/2006/relationships/image"/><Relationship Id="rId5" Target="../media/image101.svg" Type="http://schemas.openxmlformats.org/officeDocument/2006/relationships/image"/><Relationship Id="rId6" Target="../media/image70.png" Type="http://schemas.openxmlformats.org/officeDocument/2006/relationships/image"/><Relationship Id="rId7" Target="../media/image71.sv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3.xml" Type="http://schemas.openxmlformats.org/officeDocument/2006/relationships/notesSlide"/><Relationship Id="rId2" Target="../media/image102.png" Type="http://schemas.openxmlformats.org/officeDocument/2006/relationships/image"/><Relationship Id="rId3" Target="../media/image103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62.png" Type="http://schemas.openxmlformats.org/officeDocument/2006/relationships/image"/><Relationship Id="rId7" Target="../media/image63.sv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8.png" Type="http://schemas.openxmlformats.org/officeDocument/2006/relationships/image"/><Relationship Id="rId3" Target="../media/image89.svg" Type="http://schemas.openxmlformats.org/officeDocument/2006/relationships/image"/><Relationship Id="rId4" Target="../media/image104.png" Type="http://schemas.openxmlformats.org/officeDocument/2006/relationships/image"/><Relationship Id="rId5" Target="../media/image105.svg" Type="http://schemas.openxmlformats.org/officeDocument/2006/relationships/image"/><Relationship Id="rId6" Target="../media/image106.png" Type="http://schemas.openxmlformats.org/officeDocument/2006/relationships/image"/><Relationship Id="rId7" Target="../media/image107.svg" Type="http://schemas.openxmlformats.org/officeDocument/2006/relationships/image"/><Relationship Id="rId8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5.xml" Type="http://schemas.openxmlformats.org/officeDocument/2006/relationships/notesSlide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108.png" Type="http://schemas.openxmlformats.org/officeDocument/2006/relationships/image"/><Relationship Id="rId5" Target="../media/image109.svg" Type="http://schemas.openxmlformats.org/officeDocument/2006/relationships/image"/><Relationship Id="rId6" Target="../media/image110.png" Type="http://schemas.openxmlformats.org/officeDocument/2006/relationships/image"/><Relationship Id="rId7" Target="../media/image111.svg" Type="http://schemas.openxmlformats.org/officeDocument/2006/relationships/image"/><Relationship Id="rId8" Target="../media/image48.png" Type="http://schemas.openxmlformats.org/officeDocument/2006/relationships/image"/><Relationship Id="rId9" Target="../media/image49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4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A2A4E">
                  <a:alpha val="100000"/>
                </a:srgbClr>
              </a:gs>
              <a:gs pos="100000">
                <a:srgbClr val="051428">
                  <a:alpha val="100000"/>
                </a:srgbClr>
              </a:gs>
            </a:gsLst>
            <a:lin ang="27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3" id="3"/>
          <p:cNvCxnSpPr/>
          <p:nvPr/>
        </p:nvCxnSpPr>
        <p:spPr>
          <a:xfrm rot="-3580" flipH="false" flipV="false">
            <a:off x="3" y="-6350"/>
            <a:ext cx="1219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mpd="sng" cap="flat">
            <a:solidFill>
              <a:srgbClr val="D4AF3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016000" y="2032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2008年金融海啸全复盘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4376" flipH="false" flipV="false">
            <a:off x="5461032" y="29781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D4AF3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3175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从《大空头》原型故事，看懂次贷危机的前因后果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791200" y="3937000"/>
            <a:ext cx="609600" cy="609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2286000" y="5842000"/>
            <a:ext cx="762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分享人 | 日期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4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本次分享核心框架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2969" flipH="false" flipV="false">
            <a:off x="762040" y="1771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D4AF3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762000" y="2286000"/>
            <a:ext cx="1981200" cy="3556000"/>
          </a:xfrm>
          <a:prstGeom prst="roundRect">
            <a:avLst>
              <a:gd name="adj" fmla="val 641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D4AF3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435100" y="2667000"/>
            <a:ext cx="635000" cy="635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889000" y="3429000"/>
            <a:ext cx="1727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泡沫起源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3873500"/>
            <a:ext cx="17272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谁打开了潘多拉魔盒？探究危机爆发的源头。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895600" y="2286000"/>
            <a:ext cx="1981200" cy="3556000"/>
          </a:xfrm>
          <a:prstGeom prst="roundRect">
            <a:avLst>
              <a:gd name="adj" fmla="val 641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D4AF3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568700" y="2667000"/>
            <a:ext cx="635000" cy="635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3022600" y="3429000"/>
            <a:ext cx="1727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金融骗局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022600" y="3873500"/>
            <a:ext cx="17272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烂苹果如何变成黄金资产？解析欺诈链条。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029200" y="2286000"/>
            <a:ext cx="1981200" cy="3556000"/>
          </a:xfrm>
          <a:prstGeom prst="roundRect">
            <a:avLst>
              <a:gd name="adj" fmla="val 641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D4AF3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702300" y="2667000"/>
            <a:ext cx="635000" cy="635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5156200" y="3429000"/>
            <a:ext cx="1727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逆势空头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156200" y="3873500"/>
            <a:ext cx="17272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当全世界都疯了，清醒的人如何成为市场的赢家。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162800" y="2286000"/>
            <a:ext cx="1981200" cy="3556000"/>
          </a:xfrm>
          <a:prstGeom prst="roundRect">
            <a:avLst>
              <a:gd name="adj" fmla="val 641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D4AF3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7835900" y="2667000"/>
            <a:ext cx="635000" cy="6350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7289800" y="3429000"/>
            <a:ext cx="1727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海啸来临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289800" y="3873500"/>
            <a:ext cx="17272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从一张断供单到华尔街末日，危机如何全面爆发。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296400" y="2286000"/>
            <a:ext cx="1981200" cy="3556000"/>
          </a:xfrm>
          <a:prstGeom prst="roundRect">
            <a:avLst>
              <a:gd name="adj" fmla="val 641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D4AF3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9969500" y="2667000"/>
            <a:ext cx="635000" cy="6350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9423400" y="3429000"/>
            <a:ext cx="1727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终局与启示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423400" y="3873500"/>
            <a:ext cx="17272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18年后复盘，我们学到了什么？未来如何规避风险。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4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2005年，全华尔街都在笑这个“疯子”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2032000"/>
            <a:ext cx="406400" cy="4064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 rot="0" flipH="false" flipV="false">
            <a:off x="1270000" y="20066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逆势入场：孤独的“疯子”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独眼基金经理迈克尔·伯里，揣着1亿美元冲进投行，众人不解。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62000" y="2921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270000" y="28956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惊天对赌：预言崩盘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签下对赌合约，笃定半年内美国楼市将彻底崩盘，被视为送钱。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62000" y="38100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270000" y="37846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市场嘲讽：白送钱的傻瓜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全华尔街哄笑，认为这是史上最愚蠢的投资，坐等看笑话。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762000" y="4699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270000" y="4673600"/>
            <a:ext cx="457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4500"/>
                </a:solidFill>
                <a:latin typeface="Noto Sans SC"/>
                <a:ea typeface="Noto Sans SC"/>
                <a:cs typeface="Noto Sans SC"/>
                <a:sym typeface="Noto Sans SC"/>
              </a:rPr>
              <a:t>最终结局：逆天翻盘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为投资者狂赚</a:t>
            </a:r>
            <a:r>
              <a:rPr lang="en-US" b="true" i="false" strike="noStrike" u="none" sz="1800">
                <a:solidFill>
                  <a:srgbClr val="FF4500"/>
                </a:solidFill>
                <a:latin typeface="Noto Sans SC"/>
                <a:ea typeface="Noto Sans SC"/>
                <a:cs typeface="Noto Sans SC"/>
                <a:sym typeface="Noto Sans SC"/>
              </a:rPr>
              <a:t>7.5亿美元</a:t>
            </a: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，个人获利</a:t>
            </a:r>
            <a:r>
              <a:rPr lang="en-US" b="true" i="false" strike="noStrike" u="none" sz="1800">
                <a:solidFill>
                  <a:srgbClr val="FF4500"/>
                </a:solidFill>
                <a:latin typeface="Noto Sans SC"/>
                <a:ea typeface="Noto Sans SC"/>
                <a:cs typeface="Noto Sans SC"/>
                <a:sym typeface="Noto Sans SC"/>
              </a:rPr>
              <a:t>1亿美元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0" y="2032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D4AF37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432800" y="3302000"/>
            <a:ext cx="914400" cy="914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6350000" y="4318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此处放置《大空头》剧照或迈克尔·伯里照片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4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762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危机的种子：2001年，美国经济的两次致命重创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5334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9685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2001-2003年美联储利率走势：从6.5%降至1%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016000" y="2413000"/>
            <a:ext cx="4826000" cy="3302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6350000" y="1778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cmpd="sng" cap="flat">
            <a:solidFill>
              <a:srgbClr val="E6CFCF">
                <a:alpha val="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604000" y="19685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7112000" y="1930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互联网泡沫破裂：市值蒸发数万亿美元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112000" y="2311400"/>
            <a:ext cx="4064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纳斯达克指数暴跌78%，科技股遭受毁灭性打击，经济陷入衰退边缘。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32385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cmpd="sng" cap="flat">
            <a:solidFill>
              <a:srgbClr val="E6CFCF">
                <a:alpha val="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04000" y="34290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7112000" y="33909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9·11恐怖袭击：击穿经济信心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112000" y="3771900"/>
            <a:ext cx="4064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恐怖袭击事件彻底摧毁了市场信心，消费与投资急剧萎缩，加剧了经济危机。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4699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cmpd="sng" cap="flat">
            <a:solidFill>
              <a:srgbClr val="E6CFCF">
                <a:alpha val="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604000" y="48895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7112000" y="4851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美联储激进降息：打开潘多拉魔盒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112000" y="5232400"/>
            <a:ext cx="4064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13次降息将利率降至1%的历史低位，资金成本骤降，大量廉价资金涌入房地产市场。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4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当银行把钱，借给了根本还不起的人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2032000"/>
            <a:ext cx="5207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D4AF3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2286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2000-2006年 房价疯狂上涨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7305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全美累计涨幅达</a:t>
            </a:r>
            <a:r>
              <a:rPr lang="en-US" b="true" i="false" strike="noStrike" u="none" sz="280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124%</a:t>
            </a: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，热门地区超200%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2032000"/>
            <a:ext cx="5207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45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477000" y="2286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6985000" y="2286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2006年 次贷规模失控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477000" y="27305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总规模突破</a:t>
            </a:r>
            <a:r>
              <a:rPr lang="en-US" b="true" i="false" strike="noStrike" u="none" sz="2800">
                <a:solidFill>
                  <a:srgbClr val="FF4500"/>
                </a:solidFill>
                <a:latin typeface="Noto Sans SC"/>
                <a:ea typeface="Noto Sans SC"/>
                <a:cs typeface="Noto Sans SC"/>
                <a:sym typeface="Noto Sans SC"/>
              </a:rPr>
              <a:t>1.3万亿美元</a:t>
            </a: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，占新增房贷20%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191000"/>
            <a:ext cx="5207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44450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524000" y="4445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信贷标准崩塌：NINJA贷款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4889500"/>
            <a:ext cx="469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零首付、伪造收入证明即可放款。甚至出现「NINJA贷款」：无收入(No Income)、无工作(No Job)、无资产(No Assets)也能获批百万房贷。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4191000"/>
            <a:ext cx="5207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477000" y="44450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985000" y="4445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银行的危险逻辑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477000" y="4889500"/>
            <a:ext cx="469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基于“房价永远涨”的信仰，银行认为即使借款人断供，拍卖房产也能收回本金，因此肆无忌惮地放宽信贷。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4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第一步：把房贷打包，把风险卖给全世界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2286000"/>
            <a:ext cx="2032000" cy="22860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25400" cmpd="sng" cap="flat">
            <a:solidFill>
              <a:srgbClr val="D4AF3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397000" y="2540000"/>
            <a:ext cx="762000" cy="762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889000" y="3429000"/>
            <a:ext cx="177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银行发放房贷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向购房者提供贷款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2857500" y="3175000"/>
            <a:ext cx="381000" cy="381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3302000" y="2286000"/>
            <a:ext cx="2032000" cy="22860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25400" cmpd="sng" cap="flat">
            <a:solidFill>
              <a:srgbClr val="D4AF3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3937000" y="2540000"/>
            <a:ext cx="762000" cy="762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3429000" y="3429000"/>
            <a:ext cx="177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打包成 MBS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抵押贷款支持证券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397500" y="3175000"/>
            <a:ext cx="381000" cy="381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842000" y="2286000"/>
            <a:ext cx="2032000" cy="22860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25400" cmpd="sng" cap="flat">
            <a:solidFill>
              <a:srgbClr val="D4AF3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477000" y="2540000"/>
            <a:ext cx="762000" cy="762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969000" y="3429000"/>
            <a:ext cx="177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卖给全球投资者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风险转移给市场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937500" y="3175000"/>
            <a:ext cx="381000" cy="381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382000" y="2286000"/>
            <a:ext cx="2032000" cy="22860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25400" cmpd="sng" cap="flat">
            <a:solidFill>
              <a:srgbClr val="D4AF3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9017000" y="2540000"/>
            <a:ext cx="762000" cy="762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8509000" y="3429000"/>
            <a:ext cx="177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收回本金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继续发放更多房贷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4953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D4AF37">
              <a:alpha val="15000"/>
            </a:srgbClr>
          </a:solidFill>
          <a:ln w="12700" cmpd="sng" cap="flat">
            <a:solidFill>
              <a:srgbClr val="D4AF37">
                <a:alpha val="100000"/>
              </a:srgbClr>
            </a:solidFill>
            <a:prstDash val="dash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1016000" y="5207000"/>
            <a:ext cx="508000" cy="5080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1651000" y="5143500"/>
            <a:ext cx="952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核心逻辑：</a:t>
            </a: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银行通过MBS将房贷违约风险完全转移给全球投资者，实现“稳赚手续费，风险全甩卖”。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4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CDO：把垃圾，包装成和国债同级的零风险资产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524000" y="1778000"/>
            <a:ext cx="3048000" cy="1143000"/>
          </a:xfrm>
          <a:prstGeom prst="triangle">
            <a:avLst/>
          </a:prstGeom>
          <a:solidFill>
            <a:srgbClr val="D4AF37">
              <a:alpha val="100000"/>
            </a:srgbClr>
          </a:solidFill>
          <a:ln cmpd="sng" cap="flat">
            <a:solidFill>
              <a:srgbClr val="BB961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2667000" y="1968500"/>
            <a:ext cx="762000" cy="762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29845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优先级 (AAA级)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号称80%违约也保本 | 卖给养老金/主权基金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3556000"/>
            <a:ext cx="3556000" cy="1143000"/>
          </a:xfrm>
          <a:prstGeom prst="trapezoid">
            <a:avLst/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2667000" y="3746500"/>
            <a:ext cx="762000" cy="762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270000" y="4762500"/>
            <a:ext cx="355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夹层 (Mezzanine)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风险中等，收益较高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5334000"/>
            <a:ext cx="4064000" cy="1143000"/>
          </a:xfrm>
          <a:prstGeom prst="trapezoid">
            <a:avLst/>
          </a:prstGeom>
          <a:solidFill>
            <a:srgbClr val="FF4500">
              <a:alpha val="100000"/>
            </a:srgbClr>
          </a:solidFill>
          <a:ln cmpd="sng" cap="flat">
            <a:solidFill>
              <a:srgbClr val="E63E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2667000" y="5524500"/>
            <a:ext cx="762000" cy="762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016000" y="61595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4500"/>
                </a:solidFill>
                <a:latin typeface="Noto Sans SC"/>
                <a:ea typeface="Noto Sans SC"/>
                <a:cs typeface="Noto Sans SC"/>
                <a:sym typeface="Noto Sans SC"/>
              </a:rPr>
              <a:t>权益级 (Equity)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风险最高，收益最高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588000" y="1778000"/>
            <a:ext cx="5842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842000" y="19685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6350000" y="19304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核心逻辑：金融炼金术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0" y="2311400"/>
            <a:ext cx="482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将一堆“烂苹果”（垃圾债券）切碎重组，通过分层包装，最上层就能拿到AAA评级，实现从垃圾到黄金的变身。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588000" y="3365500"/>
            <a:ext cx="5842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5842000" y="35560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350000" y="35179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4500"/>
                </a:solidFill>
                <a:latin typeface="Noto Sans SC"/>
                <a:ea typeface="Noto Sans SC"/>
                <a:cs typeface="Noto Sans SC"/>
                <a:sym typeface="Noto Sans SC"/>
              </a:rPr>
              <a:t>评级机构沦陷：利益输送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350000" y="3898900"/>
            <a:ext cx="482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本该作为市场看门人的评级机构，为了高额佣金放弃底线，只要投行给钱，再垃圾的资产都能获得最高评级。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5588000" y="4953000"/>
            <a:ext cx="5842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5842000" y="5143500"/>
            <a:ext cx="406400" cy="406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350000" y="51054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残酷真相：评级泡沫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350000" y="5486400"/>
            <a:ext cx="482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75%的次贷CDO拿到了AAA评级，但事后仅25%能维持A级以上，绝大多数沦为废纸，暴露了评级体系的巨大漏洞。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4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762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CDS：既是违约保险，也是合法的对赌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45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080000" cy="609600"/>
          </a:xfrm>
          <a:prstGeom prst="roundRect">
            <a:avLst>
              <a:gd name="adj" fmla="val 20833"/>
            </a:avLst>
          </a:prstGeom>
          <a:solidFill>
            <a:srgbClr val="FF450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52500" y="18796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460500" y="18288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4500"/>
                </a:solidFill>
                <a:latin typeface="Noto Sans SC"/>
                <a:ea typeface="Noto Sans SC"/>
                <a:cs typeface="Noto Sans SC"/>
                <a:sym typeface="Noto Sans SC"/>
              </a:rPr>
              <a:t>买方：空头（赌崩盘）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26035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460500" y="2565400"/>
            <a:ext cx="4127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义务：</a:t>
            </a: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每年支付固定保费，看似是支出。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33020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460500" y="3263900"/>
            <a:ext cx="4127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权利：</a:t>
            </a: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一旦房贷债券违约，可获得巨额赔付。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40005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460500" y="3962400"/>
            <a:ext cx="4127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核心诉求：</a:t>
            </a: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笃定楼市崩盘，债券必然违约。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50000" y="1778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D4AF3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1778000"/>
            <a:ext cx="5080000" cy="609600"/>
          </a:xfrm>
          <a:prstGeom prst="roundRect">
            <a:avLst>
              <a:gd name="adj" fmla="val 20833"/>
            </a:avLst>
          </a:prstGeom>
          <a:solidFill>
            <a:srgbClr val="D4AF37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540500" y="18796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7048500" y="18288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卖方：华尔街投行（稳赚）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604000" y="26035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7048500" y="2565400"/>
            <a:ext cx="4127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4500"/>
                </a:solidFill>
                <a:latin typeface="Noto Sans SC"/>
                <a:ea typeface="Noto Sans SC"/>
                <a:cs typeface="Noto Sans SC"/>
                <a:sym typeface="Noto Sans SC"/>
              </a:rPr>
              <a:t>义务：</a:t>
            </a: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若债券违约，需赔付巨额损失（被忽视）。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6604000" y="3302000"/>
            <a:ext cx="304800" cy="304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7048500" y="3263900"/>
            <a:ext cx="4127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4500"/>
                </a:solidFill>
                <a:latin typeface="Noto Sans SC"/>
                <a:ea typeface="Noto Sans SC"/>
                <a:cs typeface="Noto Sans SC"/>
                <a:sym typeface="Noto Sans SC"/>
              </a:rPr>
              <a:t>权利：</a:t>
            </a: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每年稳拿保费，视为无风险收益。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6604000" y="40005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7048500" y="3962400"/>
            <a:ext cx="4127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45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核心认知：</a:t>
            </a: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房价永远涨，债券不会违约，这是白捡钱。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5588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D4AF37">
              <a:alpha val="20000"/>
            </a:srgbClr>
          </a:solidFill>
          <a:ln w="12700" cmpd="sng" cap="flat">
            <a:solidFill>
              <a:srgbClr val="D4AF3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 flipH="false" flipV="false">
            <a:off x="1016000" y="5753100"/>
            <a:ext cx="431800" cy="4318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1587500" y="5689600"/>
            <a:ext cx="95885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结论：投行笑着签下的，是给自己准备的催命符。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4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第一个看透真相的人：迈克尔·伯里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4572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2286000" y="2032000"/>
            <a:ext cx="1524000" cy="1524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016000" y="36830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偏执的天才医生 / 逆向投资者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4191000"/>
            <a:ext cx="4064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两岁失明，患有阿斯伯格综合症</a:t>
            </a: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对数字极度敏感，拥有非凡的洞察力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842000" y="17780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6350000" y="17526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挖掘数据，发现泡沫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0" y="21336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翻遍数千份房贷合同，发现80%的次贷收入证明造假，且70%为可调利率贷款。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842000" y="2794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350000" y="27686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逆势而为，全仓做空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350000" y="31496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2005年全仓买入CDS，扛住20%回撤，顶住投资人撤资压力，坚信危机必至。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842000" y="38100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6350000" y="37846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惊人回报，一战封神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0" y="4165600"/>
            <a:ext cx="508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基金总回报率高达</a:t>
            </a:r>
            <a:r>
              <a:rPr lang="en-US" b="true" i="false" strike="noStrike" u="none" sz="1600">
                <a:solidFill>
                  <a:srgbClr val="FF4500"/>
                </a:solidFill>
                <a:latin typeface="Noto Sans SC"/>
                <a:ea typeface="Noto Sans SC"/>
                <a:cs typeface="Noto Sans SC"/>
                <a:sym typeface="Noto Sans SC"/>
              </a:rPr>
              <a:t>489.34%</a:t>
            </a: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，为投资者赚取了</a:t>
            </a:r>
            <a:r>
              <a:rPr lang="en-US" b="true" i="false" strike="noStrike" u="none" sz="1600">
                <a:solidFill>
                  <a:srgbClr val="FF4500"/>
                </a:solidFill>
                <a:latin typeface="Noto Sans SC"/>
                <a:ea typeface="Noto Sans SC"/>
                <a:cs typeface="Noto Sans SC"/>
                <a:sym typeface="Noto Sans SC"/>
              </a:rPr>
              <a:t>7.5亿美元</a:t>
            </a: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7813" flipH="false" flipV="false">
            <a:off x="5842007" y="4946650"/>
            <a:ext cx="558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5842000" y="5080000"/>
            <a:ext cx="558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“当所有人都在狂欢时，他选择了孤独地阅读底层数据，用理性对抗疯狂。”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4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762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那些逆势下注的人，都拿到了什么结果？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D4AF3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355600" cy="355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460500" y="2006600"/>
            <a:ext cx="4064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阴差阳错的联手：艾斯曼 &amp; 李普曼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549" flipH="false" flipV="false">
            <a:off x="1016009" y="2470150"/>
            <a:ext cx="457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2730500"/>
            <a:ext cx="254000" cy="254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97000" y="26924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缘起：一通打错的电话牵线，开启了对次贷市场的深入调研。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3238500"/>
            <a:ext cx="254000" cy="254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97000" y="32004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真相：实地发现脱衣舞女郎竟手握十几套房，确认泡沫疯狂。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3810000"/>
            <a:ext cx="4572000" cy="1905000"/>
          </a:xfrm>
          <a:prstGeom prst="roundRect">
            <a:avLst>
              <a:gd name="adj" fmla="val 6666"/>
            </a:avLst>
          </a:prstGeom>
          <a:solidFill>
            <a:srgbClr val="0A2A4E">
              <a:alpha val="60000"/>
            </a:srgbClr>
          </a:solidFill>
          <a:ln w="12700" cmpd="sng" cap="flat">
            <a:solidFill>
              <a:srgbClr val="D4AF37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206500" y="40005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587500" y="40005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最终战果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206500" y="4381500"/>
            <a:ext cx="419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5000万美元本金，最终获利超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2800">
                <a:solidFill>
                  <a:srgbClr val="FF4500"/>
                </a:solidFill>
                <a:latin typeface="Noto Sans SC"/>
                <a:ea typeface="Noto Sans SC"/>
                <a:cs typeface="Noto Sans SC"/>
                <a:sym typeface="Noto Sans SC"/>
              </a:rPr>
              <a:t>10亿美元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0" y="1778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D4AF3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604000" y="2032000"/>
            <a:ext cx="355600" cy="355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7048500" y="2006600"/>
            <a:ext cx="4064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空头之王：约翰·保尔森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9549" flipH="false" flipV="false">
            <a:off x="6604009" y="2470150"/>
            <a:ext cx="457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9" id="19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604000" y="2730500"/>
            <a:ext cx="254000" cy="2540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985000" y="26924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洞察：提前半年深入研究次贷市场，敏锐捕捉到违约风险。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6604000" y="3238500"/>
            <a:ext cx="254000" cy="2540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985000" y="32004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布局：不动声色地建立百亿级做空仓位，静待危机爆发。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604000" y="3810000"/>
            <a:ext cx="4572000" cy="1905000"/>
          </a:xfrm>
          <a:prstGeom prst="roundRect">
            <a:avLst>
              <a:gd name="adj" fmla="val 6666"/>
            </a:avLst>
          </a:prstGeom>
          <a:solidFill>
            <a:srgbClr val="0A2A4E">
              <a:alpha val="60000"/>
            </a:srgbClr>
          </a:solidFill>
          <a:ln w="12700" cmpd="sng" cap="flat">
            <a:solidFill>
              <a:srgbClr val="D4AF37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794500" y="4000500"/>
            <a:ext cx="304800" cy="3048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7175500" y="40005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最终战果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794500" y="4381500"/>
            <a:ext cx="419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创下金融史单次交易盈利纪录，狂揽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2800">
                <a:solidFill>
                  <a:srgbClr val="FF4500"/>
                </a:solidFill>
                <a:latin typeface="Noto Sans SC"/>
                <a:ea typeface="Noto Sans SC"/>
                <a:cs typeface="Noto Sans SC"/>
                <a:sym typeface="Noto Sans SC"/>
              </a:rPr>
              <a:t>150亿美元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4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762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明明违约率已经飙升，为什么泡沫还没破？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4500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905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2006年底美国房贷违约率飙升至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3495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4500"/>
                </a:solidFill>
                <a:latin typeface="Noto Sans SC"/>
                <a:ea typeface="Noto Sans SC"/>
                <a:cs typeface="Noto Sans SC"/>
                <a:sym typeface="Noto Sans SC"/>
              </a:rPr>
              <a:t>18%</a:t>
            </a:r>
            <a:r>
              <a:rPr lang="en-US" b="false" i="false" strike="noStrike" u="none" sz="14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(危机信号)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1651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D4AF37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477000" y="1905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6985000" y="1905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市场表现：次贷债券价格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477000" y="23495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纹丝不动</a:t>
            </a:r>
            <a:r>
              <a:rPr lang="en-US" b="false" i="false" strike="noStrike" u="none" sz="14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(虚假繁荣)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810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泡沫未破的三大真相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4092" flipH="false" flipV="false">
            <a:off x="762004" y="4248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762000" y="4445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52500" y="46355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333500" y="46355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评级机构隐瞒真相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52500" y="50165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投行与评级机构联手，继续给垃圾资产高评级，掩盖风险。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445000" y="4445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4635500" y="46355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5016500" y="46355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全球兜售有毒资产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635500" y="50165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华尔街疯狂向全球投资者转移风险，通过抛售拖延泡沫破裂时间。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128000" y="4445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318500" y="4635500"/>
            <a:ext cx="304800" cy="3048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8699500" y="46355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空头的孤独坚守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318500" y="50165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面对巨大的资金压力和投资人质疑，空头们坚信泡沫必破，咬牙坚持。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4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危机爆发关键时间轴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2279650"/>
            <a:ext cx="1066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FFFF">
                <a:alpha val="3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752600" y="2209800"/>
            <a:ext cx="152400" cy="152400"/>
          </a:xfrm>
          <a:prstGeom prst="ellipse">
            <a:avLst/>
          </a:prstGeom>
          <a:solidFill>
            <a:srgbClr val="D4AF37">
              <a:alpha val="100000"/>
            </a:srgbClr>
          </a:solidFill>
          <a:ln cmpd="sng" cap="flat">
            <a:solidFill>
              <a:srgbClr val="BB961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540000"/>
            <a:ext cx="2413000" cy="3048000"/>
          </a:xfrm>
          <a:prstGeom prst="roundRect">
            <a:avLst>
              <a:gd name="adj" fmla="val 526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D4AF3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794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016000" y="3302000"/>
            <a:ext cx="190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2007.4 危机初现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746500"/>
            <a:ext cx="1905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美国第二大次贷机构新世纪金融破产，第一张骨牌倒下。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546600" y="2209800"/>
            <a:ext cx="152400" cy="152400"/>
          </a:xfrm>
          <a:prstGeom prst="ellipse">
            <a:avLst/>
          </a:prstGeom>
          <a:solidFill>
            <a:srgbClr val="D4AF37">
              <a:alpha val="100000"/>
            </a:srgbClr>
          </a:solidFill>
          <a:ln cmpd="sng" cap="flat">
            <a:solidFill>
              <a:srgbClr val="BB961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556000" y="2540000"/>
            <a:ext cx="2413000" cy="3048000"/>
          </a:xfrm>
          <a:prstGeom prst="roundRect">
            <a:avLst>
              <a:gd name="adj" fmla="val 526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D4AF3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810000" y="27940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3810000" y="3302000"/>
            <a:ext cx="190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2008.3 投行沦陷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810000" y="3746500"/>
            <a:ext cx="1905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华尔街第五大投行贝尔斯登，以每股2美元被摩根大通收购。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340600" y="2209800"/>
            <a:ext cx="152400" cy="152400"/>
          </a:xfrm>
          <a:prstGeom prst="ellipse">
            <a:avLst/>
          </a:prstGeom>
          <a:solidFill>
            <a:srgbClr val="D4AF37">
              <a:alpha val="100000"/>
            </a:srgbClr>
          </a:solidFill>
          <a:ln cmpd="sng" cap="flat">
            <a:solidFill>
              <a:srgbClr val="BB961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0" y="2540000"/>
            <a:ext cx="2413000" cy="3048000"/>
          </a:xfrm>
          <a:prstGeom prst="roundRect">
            <a:avLst>
              <a:gd name="adj" fmla="val 526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D4AF3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604000" y="27940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604000" y="3302000"/>
            <a:ext cx="190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2008.9.7 支柱崩塌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604000" y="3746500"/>
            <a:ext cx="1905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美国房地产两大支柱「两房」被政府接管，负债超5万亿美元。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34600" y="2209800"/>
            <a:ext cx="152400" cy="152400"/>
          </a:xfrm>
          <a:prstGeom prst="ellipse">
            <a:avLst/>
          </a:prstGeom>
          <a:solidFill>
            <a:srgbClr val="FF4500">
              <a:alpha val="100000"/>
            </a:srgbClr>
          </a:solidFill>
          <a:ln cmpd="sng" cap="flat">
            <a:solidFill>
              <a:srgbClr val="E63E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144000" y="2540000"/>
            <a:ext cx="2413000" cy="3048000"/>
          </a:xfrm>
          <a:prstGeom prst="roundRect">
            <a:avLst>
              <a:gd name="adj" fmla="val 5263"/>
            </a:avLst>
          </a:prstGeom>
          <a:solidFill>
            <a:srgbClr val="FF4500">
              <a:alpha val="15000"/>
            </a:srgbClr>
          </a:solidFill>
          <a:ln w="12700" cmpd="sng" cap="flat">
            <a:solidFill>
              <a:srgbClr val="FF45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398000" y="2794000"/>
            <a:ext cx="406400" cy="406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9398000" y="3302000"/>
            <a:ext cx="190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4500"/>
                </a:solidFill>
                <a:latin typeface="Noto Sans SC"/>
                <a:ea typeface="Noto Sans SC"/>
                <a:cs typeface="Noto Sans SC"/>
                <a:sym typeface="Noto Sans SC"/>
              </a:rPr>
              <a:t>2008.9.15 全面爆发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398000" y="3746500"/>
            <a:ext cx="1905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雷曼兄弟宣布破产，负债6130亿美元，全球金融海啸正式来袭。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4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这场危机，到底造成了多大的破坏？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2032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79500" y="23495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87500" y="2349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全球金融机构损失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79500" y="27940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超 4.1 万亿美元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2032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540500" y="23495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7048500" y="2349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全球资本市场蒸发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540500" y="27940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约 28 万亿美元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191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79500" y="4508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587500" y="4508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道琼斯指数2008年跌幅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79500" y="49530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4500"/>
                </a:solidFill>
                <a:latin typeface="Noto Sans SC"/>
                <a:ea typeface="Noto Sans SC"/>
                <a:cs typeface="Noto Sans SC"/>
                <a:sym typeface="Noto Sans SC"/>
              </a:rPr>
              <a:t>暴跌 34% (创历史记录)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4191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540500" y="45085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7048500" y="4508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全球信贷市场状况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540500" y="49530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4500"/>
                </a:solidFill>
                <a:latin typeface="Noto Sans SC"/>
                <a:ea typeface="Noto Sans SC"/>
                <a:cs typeface="Noto Sans SC"/>
                <a:sym typeface="Noto Sans SC"/>
              </a:rPr>
              <a:t>彻底冻结，银行间互不拆借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4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762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狂欢落幕，代价却由普通人承担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D4AF3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016000" y="2730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空头赢家：一战封神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5626" flipH="false" flipV="false">
            <a:off x="1016014" y="3168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3302000"/>
            <a:ext cx="2794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25000"/>
              </a:lnSpc>
              <a:buClr>
                <a:srgbClr val="DCDCDC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精准预判危机，赚走数百亿美元</a:t>
            </a: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DCDCDC"/>
              </a:buClr>
              <a:buChar char="•"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迈克尔·伯里获利约1亿美元</a:t>
            </a: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DCDCDC"/>
              </a:buClr>
              <a:buChar char="•"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保尔森公司狂揽150亿美元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778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45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2032000"/>
            <a:ext cx="609600" cy="609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699000" y="2730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4500"/>
                </a:solidFill>
                <a:latin typeface="Noto Sans SC"/>
                <a:ea typeface="Noto Sans SC"/>
                <a:cs typeface="Noto Sans SC"/>
                <a:sym typeface="Noto Sans SC"/>
              </a:rPr>
              <a:t>华尔街：金蝉脱壳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5626" flipH="false" flipV="false">
            <a:off x="4699014" y="3168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4699000" y="3302000"/>
            <a:ext cx="2794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25000"/>
              </a:lnSpc>
              <a:buClr>
                <a:srgbClr val="DCDCDC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获7000亿美元纳税人救助金兜底</a:t>
            </a: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DCDCDC"/>
              </a:buClr>
              <a:buChar char="•"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危机后发放184亿美元年终奖金</a:t>
            </a: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DCDCDC"/>
              </a:buClr>
              <a:buChar char="•"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无人因引发危机承担刑事责任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778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2032000"/>
            <a:ext cx="609600" cy="609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382000" y="2730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普通人：沉重代价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5626" flipH="false" flipV="false">
            <a:off x="8382014" y="3168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8382000" y="3302000"/>
            <a:ext cx="2794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25000"/>
              </a:lnSpc>
              <a:buClr>
                <a:srgbClr val="DCDCDC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美国880万人失业，400万家庭失房</a:t>
            </a: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DCDCDC"/>
              </a:buClr>
              <a:buChar char="•"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全球千万家庭破产，流离失所</a:t>
            </a: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DCDCDC"/>
              </a:buClr>
              <a:buChar char="•"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近700万人被迫流浪街头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4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18年后，我们到底学到了什么？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2032000"/>
            <a:ext cx="5143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D4AF3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79500" y="2349500"/>
            <a:ext cx="508000" cy="508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714500" y="2349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市场周期规律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79500" y="2857500"/>
            <a:ext cx="4508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市场永远有周期，没有「永远涨」的资产。贪婪与恐惧的循环从未改变，唯有敬畏市场。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86500" y="2032000"/>
            <a:ext cx="5143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D4AF3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604000" y="2349500"/>
            <a:ext cx="508000" cy="508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7239000" y="2349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危机本质溯源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604000" y="2857500"/>
            <a:ext cx="4508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危机的本质是全链条的贪婪，叠加监管的彻底缺位。风险往往隐藏在看似繁荣的泡沫之下。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191000"/>
            <a:ext cx="5143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D4AF3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79500" y="4508500"/>
            <a:ext cx="508000" cy="508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714500" y="4508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保持独立思考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79500" y="5016500"/>
            <a:ext cx="4508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在狂热中保持独立思考，远比跟风从众更重要。理性判断是抵御市场噪音的最佳武器。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86500" y="4191000"/>
            <a:ext cx="5143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D4AF3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604000" y="4508500"/>
            <a:ext cx="508000" cy="508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7239000" y="4508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警惕金融创新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604000" y="5016500"/>
            <a:ext cx="4508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看不懂的金融创新，背后往往是被精心包装的风险。简单、透明的逻辑才是投资的基石。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4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286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太阳底下，从来没有新鲜事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111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感谢观看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4376" flipH="false" flipV="false">
            <a:off x="5461032" y="3803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5588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参考资料来源：美国国会金融危机调查报告、美联储官方数据、IMF全球金融稳定报告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