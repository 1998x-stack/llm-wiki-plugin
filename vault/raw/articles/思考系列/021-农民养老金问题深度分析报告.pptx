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和大家一起探讨一个沉重但又无法回避的社会议题——农民养老金问题。今年，全国城乡居民基础养老金最低标准仅上涨了20元，这个数字背后，折射出的是我们在养老公平道路上错失的宝贵机会。这份报告将深入分析这一现象背后的原因、影响以及我们未来面临的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报告将分为四个部分。首先，我们将直观地看到城乡之间巨大的养老差距；其次，回顾过去的“黄金十年”，分析差距是如何一步步拉大的；接着，探讨当前制约我们进行改革的三大现实困境；最后，反思这段历史欠账，并展望未来可能的结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让我们从一个简单的问题开始：20块钱，在今天的中国能买到什么？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对于城市里的年轻人来说，这可能只是一杯奶茶的钱，甚至不够一顿像样的外卖。但对于许多农村老人而言，这20元意味着40个白面馒头，是近三周的口粮。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今年，农民养老金的涨幅恰好就是这20元。这个看似微小的数字，却揭示了一个巨大的社会现实，也体现了我们对农村养老保障的关注与努力。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接下来，让我们进入第一部分，直观地看一看城乡之间那道被撕裂的养老鸿沟。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清晰地展示了差距的悬殊。一边是每月仅167元的农民基础养老金，另一边是每月高达数千元的城镇职工养老金。更值得注意的是，我国城镇职工的养老金替代率，甚至高于德国、日本等发达国家，这从侧面反映出我们内部差距的巨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对于今年的养老金调整，许多专业机构都做出了乐观的预测，认为涨幅会在50元甚至100元以上。然而，最终的结果却只有20元，这个巨大的反差，让我们不得不思考背后更深层次的原因。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那么，如此巨大的差距是如何形成的呢？让我们把目光投向过去，回顾那段本应缩小差距，却最终让差距越拉越大的“黄金十年”。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2005到2015年，是中国经济的黄金十年。在这十年里，国家财政收入高速增长，养老金也随之连年大幅上调。这本是缩小城乡养老差距的最佳时机，但我们却做出了错误的选择。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问题就出在调整方式上。我们采取的是“普惠式”的同比例上涨。看似公平，实则不然。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通过这个简单的例子可以看到，在基数天差地别的情况下，同样的涨幅比例，只会让高收入者和低收入者之间的绝对差距，像滚雪球一样越滚越大。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大家看右边的图表，两条线的斜率虽然一致，但由于起点不同，垂直距离在不断增加。这就是我们需要警惕的“普惠式”普涨背后的陷阱。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我们当时选择的是梯度调整，让低收入群体享受更高的涨幅，那么今天的养老差距将会小得多。这就是长期制度设计的重要性，一个小小的选择，在十年的时间里，会造成截然不同的结果。可惜的是，我们错过了这个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那么，现在我们意识到了问题，还能回头弥补吗？很遗憾，答案是否定的。因为我们已经错过了那个黄金窗口期，如今正被财政、人口和制度这三重枷锁牢牢锁住。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重枷锁是财政约束。养老金不是一次性的投入，而是终身的承诺。当经济高速增长时，我们有底气进行调整；但当经济增速放缓，财政收入吃紧时，每一笔长期支出都必须谨慎。这就是为什么近年来养老金的涨幅持续走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第二重枷锁是人口结构的急剧恶化。我们正面临未富先老的困境，新生人口持续减少，而老年人口快速增加。这意味着未来将有更少的年轻人来供养更多的退休老人，整个社保体系的压力空前巨大。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人口结构的恶化，最终压力都落到了年轻人身上。一个独生子女要同时赡养父母、抚养孩子、维持自己的生活，这种巨大的压力，是导致现在年轻人不愿结婚、不愿生育的核心原因之一。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重枷锁，也是最根本的一条，是制度的底线。“多缴多得”是社保体系能够持续运转的核心逻辑。如果我们不顾这一原则，简单地大幅提高农民养老金，就会让那些按规定缴纳社保的城镇职工感到不公，从而动摇整个社保体系的根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需要补充一点，并非所有城镇职工都能领取高额养老金。事实上，很多普通工薪阶层过去都是按最低标准缴费的，他们的退休金也仅仅够维持基本生活。这也是为什么我们不能简单地通过“发钱”来解决农民养老金问题，必须考虑到整个制度的公平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最后，让我们来谈谈这笔沉重的历史欠账，以及我们可能面对的无奈未来。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不能忘记，今天享受着发展成果的我们，是站在老一辈农民的肩膀上。他们交公粮、修水库、铺路架桥，用最原始的劳动支撑起了国家的早期发展。然而，他们中的许多人，如今却只能依靠每月一百多元的养老金生活，这是一笔沉重的历史欠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而最残酷的现实是，这笔欠账可能即将随着债主的离去而一笔勾销。随着时间的推移，见证并参与了国家早期建设的这一代农民正在老去。当他们离开这个世界，我们连弥补的机会都将失去。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总结这份报告，最让人感到遗憾的，或许并不是我们现在面临的困境，而是我们曾经拥有改变这一切的机会，却在那个黄金十年里，因为制度设计的惯性，什么都没有做。这是我们必须深刻反思的地方。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报告的最后，我想把问题抛给在座的各位。你身边的农村老人，他们的养老金状况如何？在你看来，面对当前的三重枷锁，我们还有没有可能，去补上这笔迟到的历史欠账？欢迎大家一起讨论。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我的报告到此结束，感谢大家的聆听。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11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8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9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jpeg" Type="http://schemas.openxmlformats.org/officeDocument/2006/relationships/image"/><Relationship Id="rId7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notesSlides/notesSlide22.xml" Type="http://schemas.openxmlformats.org/officeDocument/2006/relationships/notesSlide"/><Relationship Id="rId6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905000"/>
            <a:ext cx="1117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农民养老金只涨20元背后：</a:t>
            </a: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我们彻底错过了缩小养老差距的黄金十年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619500"/>
            <a:ext cx="7620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93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深度分析报告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651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0" y="1778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18034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被撕裂的养老鸿沟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6035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2730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27559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黄金十年：差距是如何拉大的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3556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0" y="368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29000" y="37084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三重枷锁：为何窗口期已过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286000" y="45085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540000" y="4635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46609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历史的欠账与未来的无奈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608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引言：20元的价值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7943" r="7943" t="0" b="0"/>
          <a:stretch>
            <a:fillRect/>
          </a:stretch>
        </p:blipFill>
        <p:spPr>
          <a:xfrm rot="0" flipH="false" flipV="false">
            <a:off x="762000" y="1651000"/>
            <a:ext cx="2286000" cy="1524000"/>
          </a:xfrm>
          <a:prstGeom prst="roundRect">
            <a:avLst>
              <a:gd name="adj" fmla="val 8333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城市：一杯中端奶茶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9" r="19" t="0" b="0"/>
          <a:stretch>
            <a:fillRect/>
          </a:stretch>
        </p:blipFill>
        <p:spPr>
          <a:xfrm rot="0" flipH="false" flipV="false">
            <a:off x="762000" y="3746500"/>
            <a:ext cx="2286000" cy="1524000"/>
          </a:xfrm>
          <a:prstGeom prst="roundRect">
            <a:avLst>
              <a:gd name="adj" fmla="val 8333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农村：40个白面馒头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1651000"/>
            <a:ext cx="787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20块钱，在今天的中国能买到什么？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2413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937000" y="2362200"/>
            <a:ext cx="749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在一线城市，20元可能不够点一顿带肉的外卖，甚至不够买一杯中端奶茶。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556000" y="3048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937000" y="2997200"/>
            <a:ext cx="749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在很多农村地区，20元能买40个白面馒头，足够一位老人吃20天。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3810000"/>
            <a:ext cx="7874000" cy="1397000"/>
          </a:xfrm>
          <a:prstGeom prst="roundRect">
            <a:avLst>
              <a:gd name="adj" fmla="val 9090"/>
            </a:avLst>
          </a:prstGeom>
          <a:solidFill>
            <a:srgbClr val="FFD700">
              <a:alpha val="1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810000" y="4064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318000" y="4000500"/>
            <a:ext cx="685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关键事实：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今年，全国城乡居民基础养老金的最低标准，从每月147元涨到了167元——涨幅刚好20元。这个微小的数字，却承载着无数农村老人的生活重量。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400">
                <a:solidFill>
                  <a:srgbClr val="FFD70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2540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一、被撕裂的养老鸿沟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429000"/>
            <a:ext cx="762000" cy="381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3683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RIFTED PENSION GAP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悬殊的养老金对比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905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农民基础养老金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3495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167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元/月 (最低标准)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66000" y="1905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城镇职工养老金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66000" y="23495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6000-8000</a:t>
            </a: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元/月 (普遍水平)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937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4191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全球养老金替代率对比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51000" y="46355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德国约60%，日本约50%，美国联邦公务员体系在40%-60%之间。而我国城镇职工的替代率已达到</a:t>
            </a:r>
            <a:r>
              <a:rPr lang="en-US" b="true" i="false" strike="noStrike" u="none" sz="1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60%-80%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，处于较高水平。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35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专业机构的预测与现实的反差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4826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1841500"/>
            <a:ext cx="1143000" cy="1143000"/>
          </a:xfrm>
          <a:prstGeom prst="roundRect">
            <a:avLst>
              <a:gd name="adj" fmla="val 1111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286000" y="1841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野村证券预测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预计涨幅：50元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429000"/>
            <a:ext cx="4826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56" r="56" t="0" b="0"/>
          <a:stretch>
            <a:fillRect/>
          </a:stretch>
        </p:blipFill>
        <p:spPr>
          <a:xfrm rot="0" flipH="false" flipV="false">
            <a:off x="1016000" y="3886200"/>
            <a:ext cx="1143000" cy="609600"/>
          </a:xfrm>
          <a:prstGeom prst="roundRect">
            <a:avLst>
              <a:gd name="adj" fmla="val 208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2286000" y="3619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高盛等机构预测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预计涨幅：百元以上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1651000"/>
            <a:ext cx="5334000" cy="3302000"/>
          </a:xfrm>
          <a:prstGeom prst="roundRect">
            <a:avLst>
              <a:gd name="adj" fmla="val 3846"/>
            </a:avLst>
          </a:prstGeom>
          <a:solidFill>
            <a:srgbClr val="FFD700">
              <a:alpha val="1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905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现实结果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2540000"/>
            <a:ext cx="533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仅上涨 20 元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38100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巨大的反差反映了市场预期与实际政策落地之间的差异，值得深入探讨背后的经济逻辑。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413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二、黄金十年：差距是如何拉大的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 · THE GOLDEN DECADE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黄金十年的经济背景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28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经济高速腾飞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2005-2015年，中国经济进入黄金发展期。出口制造业规模壮大，房地产市场持续繁荣，GDP保持高速增长态势。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286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国库充盈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556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国家财政收入年增长率长期维持在15%-20%的高位，财政实力显著增强，为各项民生支出提供了坚实保障。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286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养老金连年普涨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556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在此期间，养老金实现了连年大幅上调，甚至连续8年保持10%的涨幅，退休人员生活水平显著提高。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2005-2015年，中国经济与财政的双重红利期，为养老保障体系的完善提供了绝佳机遇。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“普惠式”普涨的陷阱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1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调整方式：无差别同比例上涨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案例：老明月退休金3000元，老洪月退休金200元。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设定：每年按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10%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比例上涨。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4318000" cy="1397000"/>
          </a:xfrm>
          <a:prstGeom prst="roundRect">
            <a:avLst>
              <a:gd name="adj" fmla="val 4545"/>
            </a:avLst>
          </a:prstGeom>
          <a:solidFill>
            <a:srgbClr val="00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429000"/>
            <a:ext cx="406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10年后结果对比：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810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老明：3000元 →</a:t>
            </a:r>
            <a:r>
              <a:rPr lang="en-US" b="true" i="false" strike="noStrike" u="none" sz="1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7780元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老洪：200元 →</a:t>
            </a:r>
            <a:r>
              <a:rPr lang="en-US" b="true" i="false" strike="noStrike" u="none" sz="1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518元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1524000"/>
            <a:ext cx="5461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14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绝对差距逐年扩大趋势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223000" y="2159000"/>
            <a:ext cx="4953000" cy="2667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D700">
              <a:alpha val="15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88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5524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结论：基数不同，同比例上涨只会让差距越拉越大。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绝对差距从初始的2800元，扩大到了7260元，增长了2.6倍。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2336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梯度调整的可能性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5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差异化调整策略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采用梯度调整机制：高养老金群体涨幅控制在</a:t>
            </a: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10%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，低养老金群体享受</a:t>
            </a: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20%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的高涨幅，实现精准帮扶。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65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85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预期社会效应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413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有效对冲基数差距带来的累积效应，逐步缩小不同群体间的养老金鸿沟，促进社会公平。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D700">
              <a:alpha val="15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254500"/>
            <a:ext cx="965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复利效应的启示：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早期的一个微小制度调整，会在时间的复利下产生巨大影响。若十年前选择此路径，今天的养老格局将截然不同。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2286000"/>
          </a:xfrm>
          <a:prstGeom prst="roundRect">
            <a:avLst>
              <a:gd name="adj" fmla="val 5555"/>
            </a:avLst>
          </a:prstGeom>
          <a:solidFill>
            <a:srgbClr val="0B1C3D">
              <a:alpha val="9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667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三、三重枷锁：为何窗口期已过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3549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700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270000" y="3683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TRIPLE SHACKLES: WHY THE WINDOW HAS PASSED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第一重枷锁：财政约束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终身刚性支出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413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养老金是刚性财政支出，具有“只涨不跌”的社会预期，一旦上调即形成长期负担，难以逆转。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7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财政进入“紧平衡”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0" y="2413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随着GDP增速放缓，财政收入增速告别高速增长，收支矛盾日益凸显，可调配空间收窄。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683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3873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涨幅断崖式下跌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318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2016年后，受经济下行影响，养老金涨幅从10%的高位断崖式下跌至3%左右，增速显著放缓。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683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937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3873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普惠式上调空间有限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4318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财政现状决定了未来难以支撑普惠式的大幅上调，精细化调整和可持续性成为核心考量。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“经济增速放缓与刚性支出增长的剪刀差，是当前养老金面临的最大财政挑战。”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第二重枷锁：人口结构恶化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老龄化现状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中国正经历陡峭的老龄化进程，60岁以上人口已突破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3亿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大关，未富先老问题严峻。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070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供养比恶化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养老金缴费者与领取者比例，预计未来20年将从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3:1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降至</a:t>
            </a: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1.5:1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，压力倍增。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1879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严峻挑战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社保资金池“进水口”缩小，“出水口”扩大，体系可持续性面临前所未有的考验。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937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D700">
              <a:alpha val="1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127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核心洞察：从“人口红利”到“人口负债”的转变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57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随着劳动年龄人口下降和老年人口激增，传统的现收现付制社保体系将难以维持。这不仅是财政问题，更是关乎社会稳定的重大结构性风险，亟需通过延迟退休、鼓励生育、发展养老产业等综合手段破局。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人口结构对年轻人的影响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03" b="103"/>
          <a:stretch>
            <a:fillRect/>
          </a:stretch>
        </p:blipFill>
        <p:spPr>
          <a:xfrm rot="0" flipH="false" flipV="false">
            <a:off x="762000" y="1651000"/>
            <a:ext cx="4064000" cy="2705100"/>
          </a:xfrm>
          <a:prstGeom prst="roundRect">
            <a:avLst>
              <a:gd name="adj" fmla="val 4694"/>
            </a:avLst>
          </a:prstGeom>
          <a:noFill/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  <a:effectLst>
            <a:outerShdw dir="2700000" dist="101600" blurRad="127000" algn="tl" rotWithShape="false">
              <a:srgbClr val="000000">
                <a:alpha val="4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5207000" y="16510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3975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5969000" y="17526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生存压力剧增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969000" y="21336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独生子女一代面临“上有老，下有小”的巨大生活压力，经济与精力双重透支。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207000" y="29845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397500" y="317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969000" y="30861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社会发展隐忧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34671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沉重负担直接导致低结婚率和低生育率，形成“不愿生、不敢生”的恶性循环。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4318000"/>
            <a:ext cx="622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397500" y="450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969000" y="44196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可持续发展挑战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69000" y="48006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人口问题不仅关乎养老金体系，更直接影响整个社会的长期活力与可持续发展。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数据来源：社会人口结构研究报告 | 2024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第三重枷锁：制度底线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286000" cy="2286000"/>
          </a:xfrm>
          <a:prstGeom prst="roundRect">
            <a:avLst>
              <a:gd name="adj" fmla="val 11111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3556000" y="1651000"/>
            <a:ext cx="787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810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381500" y="1841500"/>
            <a:ext cx="685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核心原则：基石不可动摇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81500" y="2222500"/>
            <a:ext cx="685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“多缴多得，长缴多得”是社保体系持续运转的根本逻辑，保障了缴费与收益的公平对等。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3111500"/>
            <a:ext cx="787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10000" y="3365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381500" y="3302000"/>
            <a:ext cx="685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负向激励：打击缴费积极性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3683000"/>
            <a:ext cx="685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若农民养老金快速接近按最低标准缴费的城镇职工，将严重打击后者的长期缴费意愿，破坏规则公平。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4572000"/>
            <a:ext cx="787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810000" y="4826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381500" y="4762500"/>
            <a:ext cx="685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严重后果：体系崩溃风险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81500" y="5143500"/>
            <a:ext cx="685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一旦破坏“多缴多得”的原则，社保体系将失去持续的资金注入来源，最终面临崩溃的风险。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城镇职工的缴费现状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651000"/>
            <a:ext cx="2095500" cy="2794000"/>
          </a:xfrm>
          <a:prstGeom prst="roundRect">
            <a:avLst>
              <a:gd name="adj" fmla="val 6060"/>
            </a:avLst>
          </a:prstGeom>
          <a:noFill/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3175000" y="1651000"/>
            <a:ext cx="8255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3655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3937000" y="1778000"/>
            <a:ext cx="723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现实情况：下限缴费成常态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37000" y="21590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大量城镇职工，尤其是私企员工，长期按最低工资标准“贴着下限缴费”，未能充分积累养老财富。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75000" y="2984500"/>
            <a:ext cx="8255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365500" y="3238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937000" y="3111500"/>
            <a:ext cx="723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结果：养老金水平有限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37000" y="34925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由于缴费基数低、年限不足等原因，这部分群体退休后领取的养老金并不丰厚，仅能维持基本生活开支。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75000" y="4318000"/>
            <a:ext cx="8255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365500" y="457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937000" y="4445000"/>
            <a:ext cx="723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政策启示：需兼顾公平与感受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937000" y="48260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在调整农民养老金时，政策制定者必须充分考虑城镇普通职工的实际情况，避免因政策差异引发新的社会矛盾。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关注普通工薪阶层权益，构建更加公平可持续的社会保障体系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C3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C3D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413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四、历史的欠账与未来的无奈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5560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HISTORICAL DEBTS AND FUTURE DILEMMAS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历史的贡献与回报的失衡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81" b="81"/>
          <a:stretch>
            <a:fillRect/>
          </a:stretch>
        </p:blipFill>
        <p:spPr>
          <a:xfrm rot="0" flipH="false" flipV="false">
            <a:off x="762000" y="1524000"/>
            <a:ext cx="4064000" cy="2578100"/>
          </a:xfrm>
          <a:prstGeom prst="roundRect">
            <a:avLst>
              <a:gd name="adj" fmla="val 4926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207000" y="1524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715000" y="14732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历史贡献：不可磨灭的牺牲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207000" y="1968500"/>
            <a:ext cx="622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老一代农民通过交公粮、出义务工，以最原始的劳动支撑起了国家早期的工业化和城镇化进程，为国家发展做出了巨大的历史性牺牲。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207000" y="317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715000" y="31242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现实回报：亟待改善的现状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07000" y="3619500"/>
            <a:ext cx="622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他们如今领取的养老金水平与其历史贡献严重不符，保障力度不足，成为了养老体系中相对弱势的群体，面临着严峻的养老挑战。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58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“今天的发展成果，离不开老一辈农民的默默奉献与付出。”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53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无奈的结局：欠账的勾销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27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人口结构的严峻转折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533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新中国第一波生育高峰人群正集体步入高龄阶段。数据预测显示，未来10-15年，每年的死亡人口数量将迎来大幅攀升，这是不可逆转的人口自然规律。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3782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无法偿还的历史欠账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533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当这批为国家工业化做出巨大历史贡献的老农民相继离世，那笔在特殊历史时期形成的、说不清也还不完的隐性债务，将随着债主的消失而彻底失去偿还的对象，留下永久的遗憾与反思。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r="0" t="130" b="130"/>
          <a:stretch>
            <a:fillRect/>
          </a:stretch>
        </p:blipFill>
        <p:spPr>
          <a:xfrm rot="0" flipH="false" flipV="false">
            <a:off x="6604000" y="1651000"/>
            <a:ext cx="4064000" cy="2298700"/>
          </a:xfrm>
          <a:prstGeom prst="roundRect">
            <a:avLst>
              <a:gd name="adj" fmla="val 5524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6604000" y="4064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时间流逝，机会窗口正在关闭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588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6896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“ 这笔账，不仅仅是经济账，更是一笔沉甸甸的历史账 ”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总结与反思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159000"/>
            <a:ext cx="965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“历史里最让人遗憾的，从来不是做错了什么。而是在明明可以改变、可以弥补的那个时候，我们什么都没有做。”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571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574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深刻反思 · 勇于改变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8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互动与讨论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349500"/>
            <a:ext cx="762000" cy="762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20955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你身边的农村老人，每个月的养老金有多少？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42545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159000" y="40005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你觉得，我们还能补上这笔迟到的欠账吗？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71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欢迎大家结合自身观察与思考，踊跃发言 ——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61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73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