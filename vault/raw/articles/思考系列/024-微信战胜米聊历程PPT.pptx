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52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将一起回顾一场发生在十年前，决定了中国互联网未来格局的关键战役——微信与米聊的移动社交战争。这不仅仅是两款产品的竞争，更是两个巨头战略眼光和执行力的较量。让我们一起复盘这段历史，看看腾讯是如何凭借微信打赢这场生死之战，并从中汲取宝贵的商业智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五个部分。首先，我们会回顾2010年那个移动互联网刚刚兴起的时代，以及当时社交巨头QQ所面临的困境。接着，我们将看到雷军和他的米聊如何迅速崛起，给腾讯带来巨大威胁。然后，我们会分析马化腾做出的关键决策，以及张小龙如何带领团队开发微信。第四部分，我们将详细解读微信与米聊之间的激烈竞争。最后，我们将总结这场战争带来的深刻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让我们进入第一部分：时代拐点。故事要从2010年说起，那一年，一个划时代的产品诞生了，它彻底改变了人们与互联网的交互方式，也为社交领域带来了前所未有的变数。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2010年，iPhone 4的发布是一个标志性事件，它让智能手机从少数人的玩物变成了大众消费品，正式开启了移动互联网时代。几乎同时，一款叫Kik的软件在北美爆红，它的核心功能非常简单：利用手机通讯录实现免费聊天。这个模式让马化腾感到了巨大的危机，他知道，这很可能就是未来社交的形态，一场新的战争在所难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然而，当时的腾讯并非高枕无忧。虽然手握6亿PC端用户的QQ，但这个庞大的用户群反而成了最大的包袱。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大家看左边，QQ的成功是基于PC端的复杂功能和生态，界面非常繁杂。而右边的手机QQ，在早期只是一个简单的移植版，体验非常糟糕，月活仅有3000万，与PC端的6亿形成了巨大的鸿沟。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导致了团队陷入了两难：如果大刀阔斧地改造手机QQ以适应移动体验，就必须砍掉大量PC端的核心功能，这很可能会得罪习惯了旧功能的老用户；但如果不改造，QQ就会在移动浪潮中被微信等产品彻底淘汰。这就是当时摆在腾讯面前的生死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就在腾讯犹豫不决的时候，一个强大的对手出现了，他就是雷军和他的米聊。这场闪电战，几乎将腾讯逼到了悬崖边缘。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雷军的动作非常迅速，他几乎是第一时间就推出了米聊，并且精准地抓住了移动端的痛点。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米聊不仅有免费聊天功能，还开创性地加入了语音对讲，这在当时打字不便的手机上是巨大的优势。再加上可以直接导入通讯录，用户体验非常流畅。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米聊的快速崛起，让腾讯感受到了前所未有的压力。上线仅一个月用户就突破了80万，这种闪电战的速度和执行力，正是雷军和小米团队的典型风格。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更糟糕的是，腾讯面临的不仅仅是米聊一个对手。陌陌凭借陌生人社交迅速走红，而飞信则背靠中国移动，拥有巨大的渠道优势。腾讯仿佛陷入了四面楚歌的境地，社交霸主的地位第一次受到了真正的威胁。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面对前所未有的危机，马化腾做出了一个大胆的决定，这个决定不仅改变了腾讯的命运，也成就了后来的微信。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马化腾的决策非常果断：放弃改造手机QQ，集中资源，内部赛马，开发一款全新的移动社交产品。这是一个极其艰难的决定，因为这意味着要否定过去的成功，投入巨大的资源去冒险。但马化腾清楚，大企业的创新者窘境往往就在于舍不得放弃过去的优势，他必须打破这个怪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关键时刻，张小龙站了出来。他带领团队以惊人的速度，在短短42天内就推出了微信1.0。虽然这个版本功能还很简陋，但它最大的优势就是无缝对接了QQ的社交关系链。这一步棋至关重要，为微信在初期就赢得了宝贵的用户基础，让它在与米聊的竞争中不至于输在起跑线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微信的上线只是开始，真正的巅峰对决才刚刚拉开序幕。接下来的几个月，微信和米聊展开了激烈的功能竞赛和用户争夺，每一步都充满了火药味。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微信2.0版本的核心就是对标米聊的语音功能。但张小龙团队没有简单抄袭，而是做了大量优化，让语音体验更好。反观米聊，为了保持领先，开始不断增加新功能，结果反而让产品变得越来越复杂，重蹈了手机QQ的覆辙。这为微信的反超埋下了伏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真正的转折点来自“附近的人”功能。这个功能彻底挖掘了手机的社交潜力，让用户可以发现身边的人，极大地刺激了用户的好奇心和使用频率。凭借这个功能，微信实现了对米聊的关键反超，用户数呈爆炸式增长。这一步，张小龙走在了雷军的前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随后，微信又推出了“摇一摇”和“漂流瓶”这两个极具创意的功能，彻底引爆了社交网络。这些功能简单、有趣、易于传播，让微信迅速成为全民级应用。至此，米聊的败局已定，无论雷军如何努力，都无法挽回颓势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这场战争的结果是显而易见的。微信最终成长为月活超10亿的国民应用，成为腾讯在移动互联网时代最坚实的护城河。而米聊，虽然曾经辉煌一时，但最终还是没能逃脱被淘汰的命运，于2021年正式落幕。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回顾这场战争，我们不仅仅是在看一个商业案例，更是在学习其中蕴含的深刻商业智慧。这场胜利给我们带来了哪些启示呢？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启示是关于存量优势。QQ的6亿用户曾是腾讯最引以为傲的资本，但在移动互联网时代，它却成了最大的包袱。这告诉我们，任何成功的经验都可能成为未来发展的障碍，企业必须保持危机感，勇于自我革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启示是关于竞争策略。雷军一直在功能上与微信正面硬刚，而张小龙则聪明地开辟了新的战场。这告诉我们，最好的竞争不是模仿和跟随，而是创新和引领，找到对手无法企及的新维度，才能赢得最终的胜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第三个启示是关于用户洞察。很多人说腾讯只会抄袭，但微信的每一次“抄袭”都比原版做得更好，这背后是对用户体验的极致追求和对需求的深刻洞察。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真正的创新，源于对用户的理解，而不是简单的功能复制。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来说，微信的胜利是双重的胜利。一方面是马化腾的战略魄力，他做出了放弃QQ、内部赛马的关键决策。另一方面是张小龙的产品智慧，他用对用户的深刻洞察打造出了真正的移动社交产品。两者结合，才铸就了微信的传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我的分享到此结束，感谢大家的观看！希望这次复盘能给大家带来一些启发。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jpe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4.svg" Type="http://schemas.openxmlformats.org/officeDocument/2006/relationships/image"/><Relationship Id="rId11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5.jpeg" Type="http://schemas.openxmlformats.org/officeDocument/2006/relationships/image"/><Relationship Id="rId4" Target="../media/image26.jpeg" Type="http://schemas.openxmlformats.org/officeDocument/2006/relationships/image"/><Relationship Id="rId5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27.jpe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1.svg" Type="http://schemas.openxmlformats.org/officeDocument/2006/relationships/image"/><Relationship Id="rId11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34.jpeg" Type="http://schemas.openxmlformats.org/officeDocument/2006/relationships/image"/><Relationship Id="rId4" Target="../media/image35.jpe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5.jpeg" Type="http://schemas.openxmlformats.org/officeDocument/2006/relationships/image"/><Relationship Id="rId4" Target="../media/image18.jpeg" Type="http://schemas.openxmlformats.org/officeDocument/2006/relationships/image"/><Relationship Id="rId5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7.jpeg" Type="http://schemas.openxmlformats.org/officeDocument/2006/relationships/image"/><Relationship Id="rId4" Target="../media/image48.jpe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51.jpe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jpeg" Type="http://schemas.openxmlformats.org/officeDocument/2006/relationships/image"/><Relationship Id="rId9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8.xml" Type="http://schemas.openxmlformats.org/officeDocument/2006/relationships/notesSlide"/><Relationship Id="rId2" Target="../media/image2.jpeg" Type="http://schemas.openxmlformats.org/officeDocument/2006/relationships/image"/><Relationship Id="rId3" Target="../media/image57.jpe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62.png" Type="http://schemas.openxmlformats.org/officeDocument/2006/relationships/image"/><Relationship Id="rId9" Target="../media/image6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9.xml" Type="http://schemas.openxmlformats.org/officeDocument/2006/relationships/notesSlide"/><Relationship Id="rId2" Target="../media/image2.jpeg" Type="http://schemas.openxmlformats.org/officeDocument/2006/relationships/image"/><Relationship Id="rId3" Target="../media/image64.jpeg" Type="http://schemas.openxmlformats.org/officeDocument/2006/relationships/image"/><Relationship Id="rId4" Target="../media/image65.png" Type="http://schemas.openxmlformats.org/officeDocument/2006/relationships/image"/><Relationship Id="rId5" Target="../media/image66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20.xml" Type="http://schemas.openxmlformats.org/officeDocument/2006/relationships/notesSlide"/><Relationship Id="rId2" Target="../media/image2.jpeg" Type="http://schemas.openxmlformats.org/officeDocument/2006/relationships/image"/><Relationship Id="rId3" Target="../media/image69.jpe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media/image72.png" Type="http://schemas.openxmlformats.org/officeDocument/2006/relationships/image"/><Relationship Id="rId9" Target="../media/image73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7.jpeg" Type="http://schemas.openxmlformats.org/officeDocument/2006/relationships/image"/><Relationship Id="rId4" Target="../media/image34.jpeg" Type="http://schemas.openxmlformats.org/officeDocument/2006/relationships/image"/><Relationship Id="rId5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74.png" Type="http://schemas.openxmlformats.org/officeDocument/2006/relationships/image"/><Relationship Id="rId4" Target="../media/image75.svg" Type="http://schemas.openxmlformats.org/officeDocument/2006/relationships/image"/><Relationship Id="rId5" Target="../notesSlides/notesSlide22.xml" Type="http://schemas.openxmlformats.org/officeDocument/2006/relationships/notesSlide"/><Relationship Id="rId6" Target="../media/image7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1905000"/>
            <a:ext cx="1143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微信战胜米聊：一场决定中国互联网格局的移动社交战争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588000" y="3429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81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复盘腾讯的生死之战与生存法则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603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| 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6891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78000" y="16891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时代拐点：</a:t>
            </a:r>
            <a:r>
              <a:rPr lang="en-US" b="fals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移动互联网的浪潮与QQ的困境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3622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25273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78000" y="25273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劲敌突袭：</a:t>
            </a:r>
            <a:r>
              <a:rPr lang="en-US" b="fals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雷军与米聊的闪电战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2004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33655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778000" y="33655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破局之路：</a:t>
            </a:r>
            <a:r>
              <a:rPr lang="en-US" b="fals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马化腾的豪赌与张小龙的登场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0386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42037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778000" y="42037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巅峰对决：</a:t>
            </a:r>
            <a:r>
              <a:rPr lang="en-US" b="fals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微信与米聊的贴身肉搏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8768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50419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778000" y="50419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启示录：</a:t>
            </a:r>
            <a:r>
              <a:rPr lang="en-US" b="fals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巨头的生存法则与商业智慧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092" flipH="false" flipV="false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419600" y="1270000"/>
            <a:ext cx="33528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588000" y="317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3429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800" spc="2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时代拐点：移动互联网的浪潮与QQ的困境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715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 spc="400">
                <a:solidFill>
                  <a:srgbClr val="E0E0E0">
                    <a:alpha val="6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CHAPTER ONE · TURNING POINT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058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2010：移动互联网的黎明与Kik的警示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714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270000" y="1651000"/>
            <a:ext cx="533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硬件革命：iPhone 4发布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iPhone 4的问世正式开启了移动互联网时代，智能手机从此从极客玩物变为大众消费品。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2857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2794000"/>
            <a:ext cx="533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现象级应用：Kik Messenger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基于通讯录的免费聊天软件Kik迅速走红，上线仅15天便收获百万用户，展示了移动端社交的巨大潜力。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4000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70000" y="3937000"/>
            <a:ext cx="533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危机与警示：移动社交战争打响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马化腾敏锐意识到通讯录免费聊天是未来趋势，Kik的出现让腾讯感受到了移动端的巨大危机。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7112000" y="1651000"/>
            <a:ext cx="2286000" cy="1714500"/>
          </a:xfrm>
          <a:prstGeom prst="roundRect">
            <a:avLst>
              <a:gd name="adj" fmla="val 7407"/>
            </a:avLst>
          </a:prstGeom>
          <a:noFill/>
          <a:ln w="25400" cmpd="sng" cap="flat">
            <a:solidFill>
              <a:srgbClr val="00BFFF">
                <a:alpha val="6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000000">
                <a:alpha val="40000"/>
              </a:srgbClr>
            </a:outerShdw>
          </a:effectLst>
        </p:spPr>
      </p:pic>
      <p:sp>
        <p:nvSpPr>
          <p:cNvPr name="AutoShape 12" id="12"/>
          <p:cNvSpPr/>
          <p:nvPr/>
        </p:nvSpPr>
        <p:spPr>
          <a:xfrm rot="0" flipH="false" flipV="false">
            <a:off x="7112000" y="34290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iPhone 4 产品图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rcRect l="0" r="0" t="234" b="234"/>
          <a:stretch>
            <a:fillRect/>
          </a:stretch>
        </p:blipFill>
        <p:spPr>
          <a:xfrm rot="0" flipH="false" flipV="false">
            <a:off x="9652000" y="1651000"/>
            <a:ext cx="1219200" cy="2159000"/>
          </a:xfrm>
          <a:prstGeom prst="roundRect">
            <a:avLst>
              <a:gd name="adj" fmla="val 10416"/>
            </a:avLst>
          </a:prstGeom>
          <a:noFill/>
          <a:ln w="25400" cmpd="sng" cap="flat">
            <a:solidFill>
              <a:srgbClr val="00BFFF">
                <a:alpha val="6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000000">
                <a:alpha val="40000"/>
              </a:srgbClr>
            </a:outerShdw>
          </a:effectLst>
        </p:spPr>
      </p:pic>
      <p:sp>
        <p:nvSpPr>
          <p:cNvPr name="AutoShape 14" id="14"/>
          <p:cNvSpPr/>
          <p:nvPr/>
        </p:nvSpPr>
        <p:spPr>
          <a:xfrm rot="0" flipH="false" flipV="false">
            <a:off x="9652000" y="3873500"/>
            <a:ext cx="1219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Kik 早期界面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5245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“这是一个新时代的开始，也是一场关于连接的新战争。”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7543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QQ的困境：6亿用户的“催命符”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4953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44" b="44"/>
          <a:stretch>
            <a:fillRect/>
          </a:stretch>
        </p:blipFill>
        <p:spPr>
          <a:xfrm rot="0" flipH="false" flipV="false">
            <a:off x="1016000" y="1651000"/>
            <a:ext cx="1320800" cy="1016000"/>
          </a:xfrm>
          <a:prstGeom prst="roundRect">
            <a:avLst>
              <a:gd name="adj" fmla="val 6250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2540000" y="165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PC端：沉重的包袱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540000" y="2095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为PC设计，功能繁杂，界面复杂，难以直接移植。月活高达</a:t>
            </a: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6亿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1397000"/>
            <a:ext cx="4953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31" r="31" t="0" b="0"/>
          <a:stretch>
            <a:fillRect/>
          </a:stretch>
        </p:blipFill>
        <p:spPr>
          <a:xfrm rot="0" flipH="false" flipV="false">
            <a:off x="6731000" y="1651000"/>
            <a:ext cx="609600" cy="1016000"/>
          </a:xfrm>
          <a:prstGeom prst="roundRect">
            <a:avLst>
              <a:gd name="adj" fmla="val 10416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7620000" y="165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移动端：艰难的起步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0" y="2095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体验糟糕，用户习惯难以延续。月活仅有</a:t>
            </a: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0.3亿</a:t>
            </a: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，差距悬殊。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445000"/>
            <a:ext cx="10668000" cy="1651000"/>
          </a:xfrm>
          <a:prstGeom prst="roundRect">
            <a:avLst>
              <a:gd name="adj" fmla="val 7692"/>
            </a:avLst>
          </a:prstGeom>
          <a:gradFill rotWithShape="true">
            <a:gsLst>
              <a:gs pos="0">
                <a:srgbClr val="00BFFF">
                  <a:alpha val="10000"/>
                </a:srgbClr>
              </a:gs>
              <a:gs pos="100000">
                <a:srgbClr val="00BFFF">
                  <a:alpha val="2000"/>
                </a:srgbClr>
              </a:gs>
            </a:gsLst>
            <a:lin ang="0"/>
          </a:gra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9657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778000" y="4699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战略两难：改与不改？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778000" y="51435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改造意味着砍掉大量PC核心功能，可能失去6亿老用户；不改造，则会在移动互联网浪潮中彻底掉队。团队陷入了痛苦的抉择。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978400" y="1905000"/>
            <a:ext cx="2235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175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3429000"/>
            <a:ext cx="1092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劲敌突袭：雷军与米聊的闪电战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" y="3937000"/>
            <a:ext cx="1092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 spc="200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THE LIGHTNING WAR: RIVALRY BEGINS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943600" y="5080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7543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雷军的闪电战：米聊的诞生与优势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6970" b="6970"/>
          <a:stretch>
            <a:fillRect/>
          </a:stretch>
        </p:blipFill>
        <p:spPr>
          <a:xfrm rot="0" flipH="false" flipV="false">
            <a:off x="762000" y="1651000"/>
            <a:ext cx="1778000" cy="1778000"/>
          </a:xfrm>
          <a:prstGeom prst="roundRect">
            <a:avLst>
              <a:gd name="adj" fmla="val 7142"/>
            </a:avLst>
          </a:prstGeom>
          <a:noFill/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7055" r="7055" t="11766" b="0"/>
          <a:stretch>
            <a:fillRect/>
          </a:stretch>
        </p:blipFill>
        <p:spPr>
          <a:xfrm rot="0" flipH="false" flipV="false">
            <a:off x="762000" y="3683000"/>
            <a:ext cx="1778000" cy="1778000"/>
          </a:xfrm>
          <a:prstGeom prst="roundRect">
            <a:avLst>
              <a:gd name="adj" fmla="val 7142"/>
            </a:avLst>
          </a:prstGeom>
          <a:noFill/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7" id="7"/>
          <p:cNvSpPr/>
          <p:nvPr/>
        </p:nvSpPr>
        <p:spPr>
          <a:xfrm rot="0" flipH="false" flipV="false">
            <a:off x="3048000" y="1651000"/>
            <a:ext cx="762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238500" y="19812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3746500" y="1752600"/>
            <a:ext cx="673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快速响应，抢占先机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雷军迅速捕捉到Kik类应用的机遇，第一时间推出本土化产品“米聊”，以极快的速度完成了从决策到上线的过程。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048000" y="2857500"/>
            <a:ext cx="762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238500" y="31877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746500" y="2959100"/>
            <a:ext cx="673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移动端体验优化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针对手机交互深度优化，首创语音对讲功能，支持通讯录一键导入，配合简洁直观的界面，极大降低了用户使用门槛。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048000" y="4064000"/>
            <a:ext cx="762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238500" y="43942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3746500" y="4165600"/>
            <a:ext cx="673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爆发式增长势头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凭借极致的产品体验，米聊上线仅一个月，用户数量便突破80万，展现出惊人的爆发力，一度让行业巨头倍感压力。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6515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B4BEC8"/>
                </a:solidFill>
                <a:latin typeface="Noto Sans SC"/>
                <a:ea typeface="Noto Sans SC"/>
                <a:cs typeface="Noto Sans SC"/>
                <a:sym typeface="Noto Sans SC"/>
              </a:rPr>
              <a:t>“米聊的出现，标志着中国移动互联网即时通讯大战的正式打响。”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腾讯的危机：四面楚歌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1714500"/>
            <a:ext cx="1270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2413000" y="1524000"/>
            <a:ext cx="330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陌陌：陌生人社交突围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不同于熟人社交，陌陌从陌生人社交角度切入，精准击中用户需求，迅速吸引了大量用户，分流了社交注意力。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397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9288"/>
          <a:stretch>
            <a:fillRect/>
          </a:stretch>
        </p:blipFill>
        <p:spPr>
          <a:xfrm rot="0" flipH="false" flipV="false">
            <a:off x="6604000" y="1714500"/>
            <a:ext cx="1270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8001000" y="1524000"/>
            <a:ext cx="330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飞信：运营商渠道碾压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依托中国移动庞大的运营商资源，飞信试图用“免费短信”替代传统短信，拥有海量潜在用户基础，威胁巨大。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683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00BFFF">
              <a:alpha val="15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810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帝国危机：多方围剿，形势岌岌可危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一时间，腾讯的社交霸主地位不再稳固。从熟人到陌生人，从互联网到通信运营商，竞争对手从四面八方涌来，腾讯仿佛陷入了“四面楚歌”的境地。</a:t>
            </a:r>
          </a:p>
        </p:txBody>
      </p:sp>
      <p:cxnSp>
        <p:nvCxnSpPr>
          <p:cNvPr name="Connector 13" id="13"/>
          <p:cNvCxnSpPr/>
          <p:nvPr/>
        </p:nvCxnSpPr>
        <p:spPr>
          <a:xfrm rot="-4092" flipH="false" flipV="false">
            <a:off x="762004" y="12001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978400" y="1651000"/>
            <a:ext cx="2235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2921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3175000"/>
            <a:ext cx="1092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破局之路：马化腾的豪赌与张小龙的登场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842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 spc="200">
                <a:solidFill>
                  <a:srgbClr val="E0E0E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TENCENT'S TURNING POINT &amp; THE BIRTH OF WECHAT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42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马化腾的豪赌：放弃手机QQ，开启内部赛马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20" b="20"/>
          <a:stretch>
            <a:fillRect/>
          </a:stretch>
        </p:blipFill>
        <p:spPr>
          <a:xfrm rot="0" flipH="false" flipV="false">
            <a:off x="762000" y="1651000"/>
            <a:ext cx="2794000" cy="2095500"/>
          </a:xfrm>
          <a:prstGeom prst="roundRect">
            <a:avLst>
              <a:gd name="adj" fmla="val 6060"/>
            </a:avLst>
          </a:prstGeom>
          <a:noFill/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00BFFF">
                <a:alpha val="4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064000" y="1651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4572000" y="1587500"/>
            <a:ext cx="660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破局：从零开始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马化腾意识到在手机QQ框架上修修补补已无出路，必须彻底推倒重来，从零打造一款全新的移动社交产品。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064000" y="2667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572000" y="2603500"/>
            <a:ext cx="660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机制：内部赛马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启动腾讯著名的“赛马机制”，让三个团队同时开发同类产品，以激烈的内部竞争激发创新，胜者即为未来。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064000" y="3683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572000" y="3619500"/>
            <a:ext cx="660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豪赌：直面竞争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这是一场豪赌，意味着主动放弃QQ的巨大存量优势，放下身段与对手在同一起跑线上公平竞争。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826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8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080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“大企业的创新者窘境往往在于舍不得放弃过去的优势，我们必须打破这个怪圈。”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张小龙的登场：42天打造微信1.0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60" b="60"/>
          <a:stretch>
            <a:fillRect/>
          </a:stretch>
        </p:blipFill>
        <p:spPr>
          <a:xfrm rot="0" flipH="false" flipV="false">
            <a:off x="762000" y="1524000"/>
            <a:ext cx="1778000" cy="2679700"/>
          </a:xfrm>
          <a:prstGeom prst="roundRect">
            <a:avLst>
              <a:gd name="adj" fmla="val 7142"/>
            </a:avLst>
          </a:prstGeom>
          <a:noFill/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BFFF">
                <a:alpha val="3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4318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微信之父 张小龙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259" r="259" t="0" b="0"/>
          <a:stretch>
            <a:fillRect/>
          </a:stretch>
        </p:blipFill>
        <p:spPr>
          <a:xfrm rot="0" flipH="false" flipV="false">
            <a:off x="2794000" y="1651000"/>
            <a:ext cx="1689100" cy="2413000"/>
          </a:xfrm>
          <a:prstGeom prst="roundRect">
            <a:avLst>
              <a:gd name="adj" fmla="val 7518"/>
            </a:avLst>
          </a:prstGeom>
          <a:noFill/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8" id="8"/>
          <p:cNvSpPr/>
          <p:nvPr/>
        </p:nvSpPr>
        <p:spPr>
          <a:xfrm rot="0" flipH="false" flipV="false">
            <a:off x="2794000" y="4191000"/>
            <a:ext cx="16891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微信1.0 原始界面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1524000"/>
            <a:ext cx="635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080000" y="1714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588000" y="1651000"/>
            <a:ext cx="546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主动请缨，接手项目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588000" y="2032000"/>
            <a:ext cx="546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在内部赛马机制中，张小龙主动带领广州团队接手，承担起了这个关键项目的开发重任。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826000" y="2857500"/>
            <a:ext cx="635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080000" y="3048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588000" y="2984500"/>
            <a:ext cx="546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惊人执行力，42天上线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588000" y="3365500"/>
            <a:ext cx="546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团队展现出极高的效率，仅用42天就完成了从开发到上线的全过程，推出了微信1.0版本。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26000" y="4191000"/>
            <a:ext cx="635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5080000" y="4381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588000" y="4318000"/>
            <a:ext cx="546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致命武器：QQ体系打通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588000" y="4699000"/>
            <a:ext cx="546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虽功能简单，但支持QQ好友一键导入，借助庞大的社交关系链，为微信带来了宝贵的初始用户。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84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里程碑时刻：2011年1月21日，微信1.0 for iPhone发布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1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978400" y="1778000"/>
            <a:ext cx="2235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048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3429000"/>
            <a:ext cx="1092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巅峰对决：微信与米聊的贴身肉搏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" y="4064000"/>
            <a:ext cx="1092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 spc="400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EPIC BATTLE: WECHAT VS. MILIAO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7543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功能追赶：微信2.0的“微创新”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000000">
              <a:alpha val="50000"/>
            </a:srgbClr>
          </a:solidFill>
          <a:ln w="12700" cmpd="sng" cap="flat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212" b="212"/>
          <a:stretch>
            <a:fillRect/>
          </a:stretch>
        </p:blipFill>
        <p:spPr>
          <a:xfrm rot="0" flipH="false" flipV="false">
            <a:off x="1016000" y="1905000"/>
            <a:ext cx="1346200" cy="1905000"/>
          </a:xfrm>
          <a:prstGeom prst="roundRect">
            <a:avLst>
              <a:gd name="adj" fmla="val 9433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2540000" y="1905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微信2.0：体验致胜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540000" y="2413000"/>
            <a:ext cx="304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迅速跟进语音对讲功能，并未止步于模仿，而是在体验上做到极致优化：</a:t>
            </a: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08333"/>
              </a:lnSpc>
              <a:buClr>
                <a:srgbClr val="E0E0E0"/>
              </a:buClr>
              <a:buChar char="•"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实现更清晰的通话音质</a:t>
            </a: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08333"/>
              </a:lnSpc>
              <a:buClr>
                <a:srgbClr val="E0E0E0"/>
              </a:buClr>
              <a:buChar char="•"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大幅降低流量消耗，适配移动网络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000000">
              <a:alpha val="50000"/>
            </a:srgbClr>
          </a:solidFill>
          <a:ln w="12700" cmpd="sng" cap="flat">
            <a:solidFill>
              <a:srgbClr val="E0E0E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3333" r="3333" t="6849" b="0"/>
          <a:stretch>
            <a:fillRect/>
          </a:stretch>
        </p:blipFill>
        <p:spPr>
          <a:xfrm rot="0" flipH="false" flipV="false">
            <a:off x="6604000" y="1930400"/>
            <a:ext cx="1778000" cy="1727200"/>
          </a:xfrm>
          <a:prstGeom prst="roundRect">
            <a:avLst>
              <a:gd name="adj" fmla="val 7352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8509000" y="1905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米聊：功能堆砌陷阱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509000" y="2413000"/>
            <a:ext cx="2667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面对竞争压力，选择通过堆砌功能保持领先：</a:t>
            </a: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08333"/>
              </a:lnSpc>
              <a:buClr>
                <a:srgbClr val="E0E0E0"/>
              </a:buClr>
              <a:buChar char="•"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盲目添加群聊、涂鸦等复杂功能</a:t>
            </a: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08333"/>
              </a:lnSpc>
              <a:buClr>
                <a:srgbClr val="E0E0E0"/>
              </a:buClr>
              <a:buChar char="•"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背离移动端“简洁”初衷，导致产品臃肿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461000"/>
            <a:ext cx="10668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9000" y="55245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启示：在移动互联网时代，极致的体验微创新胜过臃肿的功能叠加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8559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关键一击：“附近的人”引爆用户增长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778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基于LBS的陌生人社交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159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完美契合移动互联网“随时随地”特性，挖掘手机社交潜力，激发用户好奇心。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9845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175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111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一周用户量突破1500万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34925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功能推出即引爆增长，实现对米聊的首次关键反超，用户数呈爆炸式上升。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318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508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44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抢占市场先机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24000" y="4826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雷军虽迅速跟进模仿，但市场红利已被微信收割，增长势能彻底转向微信。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7112000" y="1905000"/>
            <a:ext cx="3048000" cy="2743200"/>
          </a:xfrm>
          <a:prstGeom prst="roundRect">
            <a:avLst>
              <a:gd name="adj" fmla="val 6944"/>
            </a:avLst>
          </a:prstGeom>
          <a:noFill/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BFFF">
                <a:alpha val="40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7112000" y="4826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微信“附近的人”功能界面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终局之战：“摇一摇”与“漂流瓶”锁死胜局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841500" y="1651000"/>
            <a:ext cx="1397000" cy="2413000"/>
          </a:xfrm>
          <a:prstGeom prst="roundRect">
            <a:avLst>
              <a:gd name="adj" fmla="val 909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17" r="17" t="0" b="0"/>
          <a:stretch>
            <a:fillRect/>
          </a:stretch>
        </p:blipFill>
        <p:spPr>
          <a:xfrm rot="0" flipH="false" flipV="false">
            <a:off x="1905000" y="1727200"/>
            <a:ext cx="1270000" cy="2260600"/>
          </a:xfrm>
          <a:prstGeom prst="roundRect">
            <a:avLst>
              <a:gd name="adj" fmla="val 10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841500" y="41910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摇一摇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83500" y="1651000"/>
            <a:ext cx="1397000" cy="2413000"/>
          </a:xfrm>
          <a:prstGeom prst="roundRect">
            <a:avLst>
              <a:gd name="adj" fmla="val 909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62" r="62" t="0" b="0"/>
          <a:stretch>
            <a:fillRect/>
          </a:stretch>
        </p:blipFill>
        <p:spPr>
          <a:xfrm rot="0" flipH="false" flipV="false">
            <a:off x="7747000" y="1727200"/>
            <a:ext cx="1270000" cy="2260600"/>
          </a:xfrm>
          <a:prstGeom prst="roundRect">
            <a:avLst>
              <a:gd name="adj" fmla="val 10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7683500" y="41910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漂流瓶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127500" y="1651000"/>
            <a:ext cx="393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E0E0E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318000" y="1841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699000" y="17780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功能创新与社交想象力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微信3.0版本推出两大功能，以极具传播性和趣味性的玩法，丰富了移动社交场景，将用户体验推向新高。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127500" y="2921000"/>
            <a:ext cx="393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E0E0E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318000" y="3111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699000" y="30480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市场格局的彻底锁定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两大功能彻底占据用户心智，米聊无力追赶逐渐边缘化，微信就此确立了移动社交领域的绝对统治地位。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58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简单、有趣、易传播的产品哲学，是微信赢得这场战役的关键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7048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战争结果：微信封神，米聊落幕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4953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803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微信：移动社交王者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2860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最终成为无可争议的移动社交霸主，月活用户突破10亿大关，构建了庞大的数字生态帝国。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1016000" y="3175000"/>
            <a:ext cx="1651000" cy="1320800"/>
          </a:xfrm>
          <a:prstGeom prst="roundRect">
            <a:avLst>
              <a:gd name="adj" fmla="val 4807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2794000" y="3175000"/>
            <a:ext cx="228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用户增长趋势：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指数级攀升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从社交工具进化为超级APP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1651000"/>
            <a:ext cx="4953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E0E0E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731000" y="1841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239000" y="1803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米聊：遗憾落幕退场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731000" y="22860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经历多年市场挣扎，于2021年2月正式宣布停止服务，彻底退出历史舞台，成为时代的眼泪。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rcRect l="0" r="0" t="136" b="136"/>
          <a:stretch>
            <a:fillRect/>
          </a:stretch>
        </p:blipFill>
        <p:spPr>
          <a:xfrm rot="0" flipH="false" flipV="false">
            <a:off x="6731000" y="3175000"/>
            <a:ext cx="762000" cy="1587500"/>
          </a:xfrm>
          <a:prstGeom prst="roundRect">
            <a:avLst>
              <a:gd name="adj" fmla="val 8333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7620000" y="3175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最终结局：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停止注册与登录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服务器关闭，数据无法导出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461000"/>
            <a:ext cx="10668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9000" y="55245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启示：产品体验与生态构建是决定即时通讯工具生死的关键因素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143000"/>
            <a:ext cx="11176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651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05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2787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0E0E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3048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启示录：巨头的生存法则与商业智慧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3810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 spc="400">
                <a:solidFill>
                  <a:srgbClr val="E0E0E0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BUSINESS WISDOM &amp; SURVIVAL RULES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397000"/>
            <a:ext cx="304800" cy="30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false" flipV="true">
            <a:off x="11125200" y="1397000"/>
            <a:ext cx="304800" cy="304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true">
            <a:off x="762000" y="4902200"/>
            <a:ext cx="304800" cy="304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false" flipV="false">
            <a:off x="11125200" y="49022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1074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启示一：你的存量优势，终会变成你的生存枷锁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651000"/>
            <a:ext cx="2540000" cy="2540000"/>
          </a:xfrm>
          <a:prstGeom prst="roundRect">
            <a:avLst>
              <a:gd name="adj" fmla="val 10000"/>
            </a:avLst>
          </a:prstGeom>
          <a:noFill/>
          <a:ln w="25400" cmpd="sng" cap="flat">
            <a:solidFill>
              <a:srgbClr val="00BFFF">
                <a:alpha val="6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BFFF">
                <a:alpha val="4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3683000" y="1651000"/>
            <a:ext cx="774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937000" y="1841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445000" y="1714500"/>
            <a:ext cx="685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案例：QQ的转型困境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6亿用户曾是腾讯最大的优势，但在移动化转型中，这一存量反而让其畏手畏脚，差点错失良机。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683000" y="2921000"/>
            <a:ext cx="774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937000" y="3111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445000" y="2984500"/>
            <a:ext cx="685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洞察：创新者的窘境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大企业易陷入路径依赖，因过于依赖现有成功模式和用户基础，而不敢尝试颠覆性创新，从而被时代淘汰。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83000" y="4191000"/>
            <a:ext cx="7747000" cy="1143000"/>
          </a:xfrm>
          <a:prstGeom prst="roundRect">
            <a:avLst>
              <a:gd name="adj" fmla="val 11111"/>
            </a:avLst>
          </a:prstGeom>
          <a:solidFill>
            <a:srgbClr val="00BFFF">
              <a:alpha val="15000"/>
            </a:srgbClr>
          </a:solidFill>
          <a:ln w="12700" cmpd="sng" cap="flat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937000" y="4381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445000" y="4254500"/>
            <a:ext cx="685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启示：拥抱变化的长期主义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真正的长期主义不是固守过去，而是敢于亲手打破曾经的成功经验，主动拥抱变化，在变革中寻找新的生机。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85598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启示二：真正的竞争，是开辟新的战场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651000"/>
            <a:ext cx="2794000" cy="2794000"/>
          </a:xfrm>
          <a:prstGeom prst="roundRect">
            <a:avLst>
              <a:gd name="adj" fmla="val 6818"/>
            </a:avLst>
          </a:prstGeom>
          <a:noFill/>
          <a:ln w="25400" cmpd="sng" cap="flat">
            <a:solidFill>
              <a:srgbClr val="00BFFF">
                <a:alpha val="3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00BFFF">
                <a:alpha val="2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4064000" y="1651000"/>
            <a:ext cx="635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254500" y="1841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762500" y="1778000"/>
            <a:ext cx="546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案例对比：红海与蓝海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雷军试图在即时通讯红海堆砌功能战胜微信，而张小龙通过“附近的人”开辟了陌生人社交的全新蓝海。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064000" y="2984500"/>
            <a:ext cx="635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254500" y="3175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762500" y="3111500"/>
            <a:ext cx="546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核心观点：创造新规则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与其在别人制定的规则下被动竞争，不如跳出框架，创造属于自己的新规则，重新定义赛道。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064000" y="4318000"/>
            <a:ext cx="635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254500" y="4508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762500" y="4445000"/>
            <a:ext cx="546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战略启示：做规则制定者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找到属于自己的生态位，从“跟随者”转变为“规则制定者”，才是最高级的竞争策略。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566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启示三：“微创新”是对用户需求的极致洞察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778000"/>
            <a:ext cx="2794000" cy="2794000"/>
          </a:xfrm>
          <a:prstGeom prst="ellipse">
            <a:avLst/>
          </a:prstGeom>
          <a:noFill/>
          <a:ln w="25400" cmpd="sng" cap="flat">
            <a:solidFill>
              <a:srgbClr val="00BFFF">
                <a:alpha val="50000"/>
              </a:srgbClr>
            </a:solidFill>
            <a:prstDash val="solid"/>
            <a:round/>
          </a:ln>
          <a:effectLst>
            <a:outerShdw dir="2700000" dist="0" blurRad="254000" algn="tl" rotWithShape="false">
              <a:srgbClr val="00BFFF">
                <a:alpha val="4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4064000" y="1651000"/>
            <a:ext cx="711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318000" y="20193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826000" y="1714500"/>
            <a:ext cx="609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微信的成功之道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并非简单抄袭，而是基于对移动场景下用户行为的精准把握。无论是语音体验优化还是“附近的人”，都是对需求的深刻理解。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064000" y="2984500"/>
            <a:ext cx="711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318000" y="33528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826000" y="3048000"/>
            <a:ext cx="609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“微创新”的本质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不是功能的小修小补，而是深入用户真实场景，挖掘并解决那些被忽视的痛点，实现体验的质变。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064000" y="4318000"/>
            <a:ext cx="711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318000" y="46863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826000" y="4381500"/>
            <a:ext cx="609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核心启示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成功没有捷径。唯有放下傲慢，深入一线理解用户，才能做出真正有价值、有生命力的产品。</a:t>
            </a:r>
          </a:p>
        </p:txBody>
      </p:sp>
      <p:cxnSp>
        <p:nvCxnSpPr>
          <p:cNvPr name="Connector 15" id="15"/>
          <p:cNvCxnSpPr/>
          <p:nvPr/>
        </p:nvCxnSpPr>
        <p:spPr>
          <a:xfrm rot="-4092" flipH="false" flipV="false">
            <a:off x="762004" y="5962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762000" y="6096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 Insight Series | 产品思维启示录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42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80518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总结：微信的胜利，赢在格局与洞察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12500" r="12500" t="0" b="0"/>
          <a:stretch>
            <a:fillRect/>
          </a:stretch>
        </p:blipFill>
        <p:spPr>
          <a:xfrm rot="0" flipH="false" flipV="false">
            <a:off x="762000" y="1651000"/>
            <a:ext cx="1524000" cy="1524000"/>
          </a:xfrm>
          <a:prstGeom prst="roundRect">
            <a:avLst>
              <a:gd name="adj" fmla="val 8333"/>
            </a:avLst>
          </a:prstGeom>
          <a:noFill/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2667000" y="1651000"/>
            <a:ext cx="850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战略格局的胜利：马化腾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5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微信的成功首先归功于马化腾的战略魄力。他敢于放弃QQ的存量优势，在内部开启残酷的“赛马机制”，全力拥抱移动互联网的未来，为微信的诞生创造了土壤。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0" r="0" t="16574" b="17127"/>
          <a:stretch>
            <a:fillRect/>
          </a:stretch>
        </p:blipFill>
        <p:spPr>
          <a:xfrm rot="0" flipH="false" flipV="false">
            <a:off x="762000" y="3429000"/>
            <a:ext cx="1524000" cy="1524000"/>
          </a:xfrm>
          <a:prstGeom prst="roundRect">
            <a:avLst>
              <a:gd name="adj" fmla="val 8333"/>
            </a:avLst>
          </a:prstGeom>
          <a:noFill/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2667000" y="3429000"/>
            <a:ext cx="850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产品洞察的胜利：张小龙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5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其次是张小龙对人性的深刻洞察。他不仅理解移动社交的本质，更将这种理解转化为“摇一摇”、“朋友圈”等极简而强大的功能，让微信成为了移动互联网的超级入口。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54610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这场战争不仅是产品的胜利，更是顶层战略眼光与底层用户洞察完美结合的胜利。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1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905000"/>
            <a:ext cx="609600" cy="609600"/>
          </a:xfrm>
          <a:prstGeom prst="rect">
            <a:avLst/>
          </a:prstGeom>
          <a:effectLst>
            <a:outerShdw dir="2700000" dist="0" blurRad="127000" algn="tl" rotWithShape="false">
              <a:srgbClr val="00BFFF">
                <a:alpha val="5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66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  <a:effectLst>
            <a:outerShdw dir="2700000" dist="25400" blurRad="50800" algn="tl" rotWithShape="false">
              <a:srgbClr val="000000">
                <a:alpha val="50000"/>
              </a:srgbClr>
            </a:outerShdw>
          </a:effectLst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 | THANKS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556000"/>
            <a:ext cx="762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810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希望这次复盘能给大家带来一些启发，期待与您的下次交流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3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