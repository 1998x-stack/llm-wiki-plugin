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0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2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core.xml" Type="http://schemas.openxmlformats.org/package/2006/relationships/metadata/core-properties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  <p:sldMasterId id="2147483660" r:id="rId8"/>
  </p:sldMasterIdLst>
  <p:notesMasterIdLst>
    <p:notesMasterId r:id="rId6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</p:sldIdLst>
  <p:sldSz cx="12192000" cy="685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<Relationships xmlns="http://schemas.openxmlformats.org/package/2006/relationships"><Relationship Id="rId1" Target="theme/theme1.xml" Type="http://schemas.openxmlformats.org/officeDocument/2006/relationships/theme"/><Relationship Id="rId10" Target="slides/slide2.xml" Type="http://schemas.openxmlformats.org/officeDocument/2006/relationships/slide"/><Relationship Id="rId11" Target="slides/slide3.xml" Type="http://schemas.openxmlformats.org/officeDocument/2006/relationships/slide"/><Relationship Id="rId12" Target="slides/slide4.xml" Type="http://schemas.openxmlformats.org/officeDocument/2006/relationships/slide"/><Relationship Id="rId13" Target="slides/slide5.xml" Type="http://schemas.openxmlformats.org/officeDocument/2006/relationships/slide"/><Relationship Id="rId14" Target="slides/slide6.xml" Type="http://schemas.openxmlformats.org/officeDocument/2006/relationships/slide"/><Relationship Id="rId15" Target="slides/slide7.xml" Type="http://schemas.openxmlformats.org/officeDocument/2006/relationships/slide"/><Relationship Id="rId16" Target="slides/slide8.xml" Type="http://schemas.openxmlformats.org/officeDocument/2006/relationships/slide"/><Relationship Id="rId17" Target="slides/slide9.xml" Type="http://schemas.openxmlformats.org/officeDocument/2006/relationships/slide"/><Relationship Id="rId18" Target="slides/slide10.xml" Type="http://schemas.openxmlformats.org/officeDocument/2006/relationships/slide"/><Relationship Id="rId19" Target="slides/slide11.xml" Type="http://schemas.openxmlformats.org/officeDocument/2006/relationships/slide"/><Relationship Id="rId2" Target="viewProps.xml" Type="http://schemas.openxmlformats.org/officeDocument/2006/relationships/viewProps"/><Relationship Id="rId20" Target="slides/slide12.xml" Type="http://schemas.openxmlformats.org/officeDocument/2006/relationships/slide"/><Relationship Id="rId21" Target="slides/slide13.xml" Type="http://schemas.openxmlformats.org/officeDocument/2006/relationships/slide"/><Relationship Id="rId22" Target="slides/slide14.xml" Type="http://schemas.openxmlformats.org/officeDocument/2006/relationships/slide"/><Relationship Id="rId23" Target="slides/slide15.xml" Type="http://schemas.openxmlformats.org/officeDocument/2006/relationships/slide"/><Relationship Id="rId24" Target="slides/slide16.xml" Type="http://schemas.openxmlformats.org/officeDocument/2006/relationships/slide"/><Relationship Id="rId25" Target="slides/slide17.xml" Type="http://schemas.openxmlformats.org/officeDocument/2006/relationships/slide"/><Relationship Id="rId26" Target="slides/slide18.xml" Type="http://schemas.openxmlformats.org/officeDocument/2006/relationships/slide"/><Relationship Id="rId27" Target="slides/slide19.xml" Type="http://schemas.openxmlformats.org/officeDocument/2006/relationships/slide"/><Relationship Id="rId28" Target="slides/slide20.xml" Type="http://schemas.openxmlformats.org/officeDocument/2006/relationships/slide"/><Relationship Id="rId29" Target="notesSlides/notesSlide1.xml" Type="http://schemas.openxmlformats.org/officeDocument/2006/relationships/notesSlide"/><Relationship Id="rId3" Target="presProps.xml" Type="http://schemas.openxmlformats.org/officeDocument/2006/relationships/presProps"/><Relationship Id="rId30" Target="notesSlides/notesSlide2.xml" Type="http://schemas.openxmlformats.org/officeDocument/2006/relationships/notesSlide"/><Relationship Id="rId31" Target="notesSlides/notesSlide3.xml" Type="http://schemas.openxmlformats.org/officeDocument/2006/relationships/notesSlide"/><Relationship Id="rId32" Target="notesSlides/notesSlide4.xml" Type="http://schemas.openxmlformats.org/officeDocument/2006/relationships/notesSlide"/><Relationship Id="rId33" Target="notesSlides/notesSlide5.xml" Type="http://schemas.openxmlformats.org/officeDocument/2006/relationships/notesSlide"/><Relationship Id="rId34" Target="notesSlides/notesSlide6.xml" Type="http://schemas.openxmlformats.org/officeDocument/2006/relationships/notesSlide"/><Relationship Id="rId35" Target="notesSlides/notesSlide7.xml" Type="http://schemas.openxmlformats.org/officeDocument/2006/relationships/notesSlide"/><Relationship Id="rId36" Target="notesSlides/notesSlide8.xml" Type="http://schemas.openxmlformats.org/officeDocument/2006/relationships/notesSlide"/><Relationship Id="rId37" Target="notesSlides/notesSlide9.xml" Type="http://schemas.openxmlformats.org/officeDocument/2006/relationships/notesSlide"/><Relationship Id="rId38" Target="notesSlides/notesSlide10.xml" Type="http://schemas.openxmlformats.org/officeDocument/2006/relationships/notesSlide"/><Relationship Id="rId39" Target="notesSlides/notesSlide11.xml" Type="http://schemas.openxmlformats.org/officeDocument/2006/relationships/notesSlide"/><Relationship Id="rId4" Target="slideMasters/slideMaster1.xml" Type="http://schemas.openxmlformats.org/officeDocument/2006/relationships/slideMaster"/><Relationship Id="rId40" Target="notesSlides/notesSlide12.xml" Type="http://schemas.openxmlformats.org/officeDocument/2006/relationships/notesSlide"/><Relationship Id="rId41" Target="notesSlides/notesSlide13.xml" Type="http://schemas.openxmlformats.org/officeDocument/2006/relationships/notesSlide"/><Relationship Id="rId42" Target="notesSlides/notesSlide14.xml" Type="http://schemas.openxmlformats.org/officeDocument/2006/relationships/notesSlide"/><Relationship Id="rId43" Target="notesSlides/notesSlide15.xml" Type="http://schemas.openxmlformats.org/officeDocument/2006/relationships/notesSlide"/><Relationship Id="rId44" Target="notesSlides/notesSlide16.xml" Type="http://schemas.openxmlformats.org/officeDocument/2006/relationships/notesSlide"/><Relationship Id="rId45" Target="notesSlides/notesSlide17.xml" Type="http://schemas.openxmlformats.org/officeDocument/2006/relationships/notesSlide"/><Relationship Id="rId46" Target="notesSlides/notesSlide18.xml" Type="http://schemas.openxmlformats.org/officeDocument/2006/relationships/notesSlide"/><Relationship Id="rId47" Target="notesSlides/notesSlide19.xml" Type="http://schemas.openxmlformats.org/officeDocument/2006/relationships/notesSlide"/><Relationship Id="rId48" Target="notesSlides/notesSlide20.xml" Type="http://schemas.openxmlformats.org/officeDocument/2006/relationships/notesSlide"/><Relationship Id="rId6" Target="notesMasters/notesMaster1.xml" Type="http://schemas.openxmlformats.org/officeDocument/2006/relationships/notesMaster"/><Relationship Id="rId7" Target="theme/theme2.xml" Type="http://schemas.openxmlformats.org/officeDocument/2006/relationships/theme"/><Relationship Id="rId8" Target="slideMasters/slideMaster2.xml" Type="http://schemas.openxmlformats.org/officeDocument/2006/relationships/slideMaster"/><Relationship Id="rId9" Target="slides/slide1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1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_rels/notesSlide1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5.xml" Type="http://schemas.openxmlformats.org/officeDocument/2006/relationships/slide"/></Relationships>
</file>

<file path=ppt/notesSlides/_rels/notesSlide1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6.xml" Type="http://schemas.openxmlformats.org/officeDocument/2006/relationships/slide"/></Relationships>
</file>

<file path=ppt/notesSlides/_rels/notesSlide1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7.xml" Type="http://schemas.openxmlformats.org/officeDocument/2006/relationships/slide"/></Relationships>
</file>

<file path=ppt/notesSlides/_rels/notesSlide1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8.xml" Type="http://schemas.openxmlformats.org/officeDocument/2006/relationships/slide"/></Relationships>
</file>

<file path=ppt/notesSlides/_rels/notesSlide1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9.xml" Type="http://schemas.openxmlformats.org/officeDocument/2006/relationships/slide"/></Relationships>
</file>

<file path=ppt/notesSlides/_rels/notesSlide2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0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大家好，今天我将为大家深入分析一个近期备受关注的国际事件：伊朗新领袖穆杰塔巴的“隐身执政”。我们将探讨，为何美以精心策划的斩首行动，最终却让伊朗变成了一个更难对付的对手，这背后是一场怎样的顶级战略反杀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本次分享将分为五个部分。首先，我们会了解这位神秘的新领袖穆杰塔巴；接着，回顾过去28天里发生的戏剧性逆转；然后，深入剖析伊朗独特的“无头模式”是如何让斩首战术失效的；之后，我们会分析这一策略如何精准打击了特朗普的软肋；最后，总结这场博弈的终局，探讨斩首战术的战略崩盘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首先，让我们进入第一部分：揭开这位新领袖穆杰塔巴的神秘面纱。他究竟是谁？为何被称为权力核心的“隐形人”？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穆杰塔巴的当选本身就充满了神秘色彩。在老领袖遇刺后仅9天，他就被紧急推举上位。然而，更令人关注的是他当选后的状态——持续的“隐身”。没有公开活动，只有沉默和几张照片，这让外界，尤其是西方媒体，充满了猜测和质疑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事实上，穆杰塔巴的“隐形”并非偶然。回顾他的政治生涯，我们发现他一直刻意保持低调，长期隐藏在权力的幕后。他没有公开的权力职位，也几乎没有任何公开的政治表态。这种刻意的低调，为他如今的“隐身执政”埋下了伏笔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接下来，我们回顾过去这28天发生的惊天逆转。美以发动的斩首行动，本想一击致命，却为何最终养出了自己的噩梦？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故事的开端，是美以发动的这场震惊世界的“史诗怒火”行动。他们试图通过一次精准的斩首，彻底瘫痪伊朗的指挥体系，这是一场豪赌，也是一次对国际法和战争规则的公然践踏。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然而，美以的算盘落空了。伊朗没有崩溃，反而以惊人的速度完成了权力交接和全面反击。他们早就为这一天做好了准备，启动了预设的应急机制，整个国家机器迅速恢复运转，并立即展开了猛烈的报复。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那么，伊朗究竟是如何做到这一点的？答案就在于他们独特的“无头模式”，这套体系彻底废掉了美以引以为傲的斩首战术。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这一切的背后，是伊朗近20年的战略准备。他们深刻理解现代战争的特点，很早就开始构建一套名为“去中心化马赛克防御体系”的作战模式，其目的就是为了应对像“史诗怒火”这样的斩首行动。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这套体系的核心在于“去中心化”。伊朗将全国分割成无数个独立的作战单元，每个单元都能自主决策、独立作战。这意味着，即使中央指挥系统被摧毁，前线的每个士兵、每个导弹营，都能继续战斗。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此外，伊朗还建立了极其完善的权力冗余机制。每个关键位置都有备份，整个指挥体系就像一张打不烂的网。因此，他们现在根本不需要一个高高在上的“头”，整个国家本身就是一个强大的战斗机器。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伊朗的这套“无头模式”，不仅在军事上让美以束手无策，更在政治上精准地戳中了特朗普的命门。作为一个商人总统，他最害怕的是什么？就是没有交易对手。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特朗普的行事风格我们都很熟悉：极限施压，然后谈判。他喜欢把对手逼到墙角，然后签下一份他认为有利的协议。但这一切的前提是，他有一个明确的谈判对象。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而伊朗的策略就是不给他谈判的机会。他们用沉默和持续的反击，不断消耗特朗普的耐心。同时，他们精准地利用了特朗普即将到来的访华行程作为“死线”，将他逼入了一个进退两难的境地。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最后，让我们来总结这场博弈的终局。美以的斩首战术，不仅没有达到预期效果，反而导致了自身的战略崩盘。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美以的根本错误在于低估了伊朗。他们以为斩首行动是“毕其功于一役”的绝杀，却没想到伊朗早已将自己变成了一条“九头蛇”。他们的行动不仅没有摧毁伊朗，反而让伊朗变得更加坚韧和可怕。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所以，我们现在可以清晰地看到，穆杰塔巴的“隐身执政”，本身就是这场战略反杀的核心。他的“消失”不是被动的，而是主动的战略选择。他用这种方式，让美以无计可施，让整个伊朗成为了一个不可战胜的整体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总结来说，这场事件告诉我们，在现代战争中，单纯的军事技术优势并不能保证胜利。伊朗通过长期的战略准备和精准的战术反杀，不仅化解了危机，还将对手逼入了绝境。美以的斩首战术，最终以战略崩盘告终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我的分享到此结束，感谢大家的聆听。现在是问答环节，欢迎大家提问交流。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2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幻灯片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内容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节标题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两栏内容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较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39" name="Shape 37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1" name="Shape 39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仅标题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内容与标题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图片与标题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竖排文字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竖排标题与文本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_rels/slideMaster2.xml.rels><?xml version="1.0" encoding="UTF-8" standalone="yes"?><Relationships xmlns="http://schemas.openxmlformats.org/package/2006/relationships"><Relationship Id="rId1" Target="../theme/theme3.xml" Type="http://schemas.openxmlformats.org/officeDocument/2006/relationships/theme"/><Relationship Id="rId2" Target="../slideLayouts/slideLayout12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Shape 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Shape 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Shape 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默认主题">
    <p:bg>
      <p:bgPr>
        <a:solidFill>
          <a:srgbClr val="FFFFFF">
            <a:alpha val="100000"/>
          </a:srgbClr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5748369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.jpeg" Type="http://schemas.openxmlformats.org/officeDocument/2006/relationships/image"/><Relationship Id="rId3" Target="../notesSlides/notesSlide1.xml" Type="http://schemas.openxmlformats.org/officeDocument/2006/relationships/notesSlide"/></Relationships>
</file>

<file path=ppt/slides/_rels/slide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10.svg" Type="http://schemas.openxmlformats.org/officeDocument/2006/relationships/image"/><Relationship Id="rId11" Target="../media/image11.png" Type="http://schemas.openxmlformats.org/officeDocument/2006/relationships/image"/><Relationship Id="rId12" Target="../media/image12.svg" Type="http://schemas.openxmlformats.org/officeDocument/2006/relationships/image"/><Relationship Id="rId13" Target="../notesSlides/notesSlide2.xml" Type="http://schemas.openxmlformats.org/officeDocument/2006/relationships/notesSlide"/><Relationship Id="rId2" Target="../media/image2.jpe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Relationship Id="rId7" Target="../media/image7.png" Type="http://schemas.openxmlformats.org/officeDocument/2006/relationships/image"/><Relationship Id="rId8" Target="../media/image8.svg" Type="http://schemas.openxmlformats.org/officeDocument/2006/relationships/image"/><Relationship Id="rId9" Target="../media/image9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notesSlides/notesSlide3.xml" Type="http://schemas.openxmlformats.org/officeDocument/2006/relationships/notesSlide"/></Relationships>
</file>

<file path=ppt/slides/_rels/slide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media/image13.jpeg" Type="http://schemas.openxmlformats.org/officeDocument/2006/relationships/image"/><Relationship Id="rId4" Target="../notesSlides/notesSlide4.xml" Type="http://schemas.openxmlformats.org/officeDocument/2006/relationships/notesSlide"/></Relationships>
</file>

<file path=ppt/slides/_rels/slide5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19.svg" Type="http://schemas.openxmlformats.org/officeDocument/2006/relationships/image"/><Relationship Id="rId11" Target="../media/image20.jpeg" Type="http://schemas.openxmlformats.org/officeDocument/2006/relationships/image"/><Relationship Id="rId12" Target="../notesSlides/notesSlide5.xml" Type="http://schemas.openxmlformats.org/officeDocument/2006/relationships/notesSlide"/><Relationship Id="rId2" Target="../media/image2.jpeg" Type="http://schemas.openxmlformats.org/officeDocument/2006/relationships/image"/><Relationship Id="rId3" Target="../media/image14.png" Type="http://schemas.openxmlformats.org/officeDocument/2006/relationships/image"/><Relationship Id="rId4" Target="../media/image15.svg" Type="http://schemas.openxmlformats.org/officeDocument/2006/relationships/image"/><Relationship Id="rId5" Target="../media/image16.png" Type="http://schemas.openxmlformats.org/officeDocument/2006/relationships/image"/><Relationship Id="rId6" Target="../media/image17.svg" Type="http://schemas.openxmlformats.org/officeDocument/2006/relationships/image"/><Relationship Id="rId7" Target="../media/image3.png" Type="http://schemas.openxmlformats.org/officeDocument/2006/relationships/image"/><Relationship Id="rId8" Target="../media/image4.svg" Type="http://schemas.openxmlformats.org/officeDocument/2006/relationships/image"/><Relationship Id="rId9" Target="../media/image18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notesSlides/notesSlide6.xml" Type="http://schemas.openxmlformats.org/officeDocument/2006/relationships/notesSlide"/></Relationships>
</file>

<file path=ppt/slides/_rels/slide7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media/image21.jpeg" Type="http://schemas.openxmlformats.org/officeDocument/2006/relationships/image"/><Relationship Id="rId4" Target="../notesSlides/notesSlide7.xml" Type="http://schemas.openxmlformats.org/officeDocument/2006/relationships/notesSlide"/></Relationships>
</file>

<file path=ppt/slides/_rels/slide8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27.svg" Type="http://schemas.openxmlformats.org/officeDocument/2006/relationships/image"/><Relationship Id="rId11" Target="../media/image28.jpeg" Type="http://schemas.openxmlformats.org/officeDocument/2006/relationships/image"/><Relationship Id="rId12" Target="../notesSlides/notesSlide8.xml" Type="http://schemas.openxmlformats.org/officeDocument/2006/relationships/notesSlide"/><Relationship Id="rId2" Target="../media/image2.jpeg" Type="http://schemas.openxmlformats.org/officeDocument/2006/relationships/image"/><Relationship Id="rId3" Target="../media/image22.png" Type="http://schemas.openxmlformats.org/officeDocument/2006/relationships/image"/><Relationship Id="rId4" Target="../media/image23.svg" Type="http://schemas.openxmlformats.org/officeDocument/2006/relationships/image"/><Relationship Id="rId5" Target="../media/image24.png" Type="http://schemas.openxmlformats.org/officeDocument/2006/relationships/image"/><Relationship Id="rId6" Target="../media/image25.svg" Type="http://schemas.openxmlformats.org/officeDocument/2006/relationships/image"/><Relationship Id="rId7" Target="../media/image7.png" Type="http://schemas.openxmlformats.org/officeDocument/2006/relationships/image"/><Relationship Id="rId8" Target="../media/image8.svg" Type="http://schemas.openxmlformats.org/officeDocument/2006/relationships/image"/><Relationship Id="rId9" Target="../media/image26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notesSlides/notesSlide9.xml" Type="http://schemas.openxmlformats.org/officeDocument/2006/relationships/notesSlide"/></Relationships>
</file>

<file path=ppt/slides/_rels/slide10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notesSlides/notesSlide10.xml" Type="http://schemas.openxmlformats.org/officeDocument/2006/relationships/notesSlide"/><Relationship Id="rId2" Target="../media/image2.jpe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Relationship Id="rId5" Target="../media/image7.png" Type="http://schemas.openxmlformats.org/officeDocument/2006/relationships/image"/><Relationship Id="rId6" Target="../media/image8.svg" Type="http://schemas.openxmlformats.org/officeDocument/2006/relationships/image"/><Relationship Id="rId7" Target="../media/image22.png" Type="http://schemas.openxmlformats.org/officeDocument/2006/relationships/image"/><Relationship Id="rId8" Target="../media/image23.svg" Type="http://schemas.openxmlformats.org/officeDocument/2006/relationships/image"/><Relationship Id="rId9" Target="../media/image29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notesSlides/notesSlide11.xml" Type="http://schemas.openxmlformats.org/officeDocument/2006/relationships/notesSlide"/><Relationship Id="rId2" Target="../media/image2.jpeg" Type="http://schemas.openxmlformats.org/officeDocument/2006/relationships/image"/><Relationship Id="rId3" Target="../media/image22.png" Type="http://schemas.openxmlformats.org/officeDocument/2006/relationships/image"/><Relationship Id="rId4" Target="../media/image23.svg" Type="http://schemas.openxmlformats.org/officeDocument/2006/relationships/image"/><Relationship Id="rId5" Target="../media/image30.png" Type="http://schemas.openxmlformats.org/officeDocument/2006/relationships/image"/><Relationship Id="rId6" Target="../media/image31.svg" Type="http://schemas.openxmlformats.org/officeDocument/2006/relationships/image"/><Relationship Id="rId7" Target="../media/image16.png" Type="http://schemas.openxmlformats.org/officeDocument/2006/relationships/image"/><Relationship Id="rId8" Target="../media/image17.svg" Type="http://schemas.openxmlformats.org/officeDocument/2006/relationships/image"/><Relationship Id="rId9" Target="../media/image32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notesSlides/notesSlide12.xml" Type="http://schemas.openxmlformats.org/officeDocument/2006/relationships/notesSlide"/><Relationship Id="rId2" Target="../media/image2.jpeg" Type="http://schemas.openxmlformats.org/officeDocument/2006/relationships/image"/><Relationship Id="rId3" Target="../media/image24.png" Type="http://schemas.openxmlformats.org/officeDocument/2006/relationships/image"/><Relationship Id="rId4" Target="../media/image25.svg" Type="http://schemas.openxmlformats.org/officeDocument/2006/relationships/image"/><Relationship Id="rId5" Target="../media/image7.png" Type="http://schemas.openxmlformats.org/officeDocument/2006/relationships/image"/><Relationship Id="rId6" Target="../media/image8.svg" Type="http://schemas.openxmlformats.org/officeDocument/2006/relationships/image"/><Relationship Id="rId7" Target="../media/image29.jpeg" Type="http://schemas.openxmlformats.org/officeDocument/2006/relationships/image"/><Relationship Id="rId8" Target="../media/image33.png" Type="http://schemas.openxmlformats.org/officeDocument/2006/relationships/image"/><Relationship Id="rId9" Target="../media/image34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notesSlides/notesSlide13.xml" Type="http://schemas.openxmlformats.org/officeDocument/2006/relationships/notesSlide"/></Relationships>
</file>

<file path=ppt/slides/_rels/slide1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42.png" Type="http://schemas.openxmlformats.org/officeDocument/2006/relationships/image"/><Relationship Id="rId11" Target="../media/image43.svg" Type="http://schemas.openxmlformats.org/officeDocument/2006/relationships/image"/><Relationship Id="rId12" Target="../notesSlides/notesSlide14.xml" Type="http://schemas.openxmlformats.org/officeDocument/2006/relationships/notesSlide"/><Relationship Id="rId2" Target="../media/image2.jpeg" Type="http://schemas.openxmlformats.org/officeDocument/2006/relationships/image"/><Relationship Id="rId3" Target="../media/image35.jpeg" Type="http://schemas.openxmlformats.org/officeDocument/2006/relationships/image"/><Relationship Id="rId4" Target="../media/image36.png" Type="http://schemas.openxmlformats.org/officeDocument/2006/relationships/image"/><Relationship Id="rId5" Target="../media/image37.svg" Type="http://schemas.openxmlformats.org/officeDocument/2006/relationships/image"/><Relationship Id="rId6" Target="../media/image38.png" Type="http://schemas.openxmlformats.org/officeDocument/2006/relationships/image"/><Relationship Id="rId7" Target="../media/image39.svg" Type="http://schemas.openxmlformats.org/officeDocument/2006/relationships/image"/><Relationship Id="rId8" Target="../media/image40.png" Type="http://schemas.openxmlformats.org/officeDocument/2006/relationships/image"/><Relationship Id="rId9" Target="../media/image41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49.svg" Type="http://schemas.openxmlformats.org/officeDocument/2006/relationships/image"/><Relationship Id="rId11" Target="../media/image50.jpeg" Type="http://schemas.openxmlformats.org/officeDocument/2006/relationships/image"/><Relationship Id="rId12" Target="../notesSlides/notesSlide15.xml" Type="http://schemas.openxmlformats.org/officeDocument/2006/relationships/notesSlide"/><Relationship Id="rId2" Target="../media/image2.jpeg" Type="http://schemas.openxmlformats.org/officeDocument/2006/relationships/image"/><Relationship Id="rId3" Target="../media/image36.png" Type="http://schemas.openxmlformats.org/officeDocument/2006/relationships/image"/><Relationship Id="rId4" Target="../media/image37.svg" Type="http://schemas.openxmlformats.org/officeDocument/2006/relationships/image"/><Relationship Id="rId5" Target="../media/image44.png" Type="http://schemas.openxmlformats.org/officeDocument/2006/relationships/image"/><Relationship Id="rId6" Target="../media/image45.svg" Type="http://schemas.openxmlformats.org/officeDocument/2006/relationships/image"/><Relationship Id="rId7" Target="../media/image46.png" Type="http://schemas.openxmlformats.org/officeDocument/2006/relationships/image"/><Relationship Id="rId8" Target="../media/image47.svg" Type="http://schemas.openxmlformats.org/officeDocument/2006/relationships/image"/><Relationship Id="rId9" Target="../media/image48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notesSlides/notesSlide16.xml" Type="http://schemas.openxmlformats.org/officeDocument/2006/relationships/notesSlide"/></Relationships>
</file>

<file path=ppt/slides/_rels/slide17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notesSlides/notesSlide17.xml" Type="http://schemas.openxmlformats.org/officeDocument/2006/relationships/notesSlide"/><Relationship Id="rId2" Target="../media/image2.jpeg" Type="http://schemas.openxmlformats.org/officeDocument/2006/relationships/image"/><Relationship Id="rId3" Target="../media/image51.png" Type="http://schemas.openxmlformats.org/officeDocument/2006/relationships/image"/><Relationship Id="rId4" Target="../media/image52.svg" Type="http://schemas.openxmlformats.org/officeDocument/2006/relationships/image"/><Relationship Id="rId5" Target="../media/image53.png" Type="http://schemas.openxmlformats.org/officeDocument/2006/relationships/image"/><Relationship Id="rId6" Target="../media/image54.svg" Type="http://schemas.openxmlformats.org/officeDocument/2006/relationships/image"/><Relationship Id="rId7" Target="../media/image55.png" Type="http://schemas.openxmlformats.org/officeDocument/2006/relationships/image"/><Relationship Id="rId8" Target="../media/image56.svg" Type="http://schemas.openxmlformats.org/officeDocument/2006/relationships/image"/><Relationship Id="rId9" Target="../media/image57.jpe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6.svg" Type="http://schemas.openxmlformats.org/officeDocument/2006/relationships/image"/><Relationship Id="rId11" Target="../media/image60.jpeg" Type="http://schemas.openxmlformats.org/officeDocument/2006/relationships/image"/><Relationship Id="rId12" Target="../notesSlides/notesSlide18.xml" Type="http://schemas.openxmlformats.org/officeDocument/2006/relationships/notesSlide"/><Relationship Id="rId2" Target="../media/image2.jpeg" Type="http://schemas.openxmlformats.org/officeDocument/2006/relationships/image"/><Relationship Id="rId3" Target="../media/image22.png" Type="http://schemas.openxmlformats.org/officeDocument/2006/relationships/image"/><Relationship Id="rId4" Target="../media/image23.svg" Type="http://schemas.openxmlformats.org/officeDocument/2006/relationships/image"/><Relationship Id="rId5" Target="../media/image58.png" Type="http://schemas.openxmlformats.org/officeDocument/2006/relationships/image"/><Relationship Id="rId6" Target="../media/image59.svg" Type="http://schemas.openxmlformats.org/officeDocument/2006/relationships/image"/><Relationship Id="rId7" Target="../media/image7.png" Type="http://schemas.openxmlformats.org/officeDocument/2006/relationships/image"/><Relationship Id="rId8" Target="../media/image8.svg" Type="http://schemas.openxmlformats.org/officeDocument/2006/relationships/image"/><Relationship Id="rId9" Target="../media/image5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64.png" Type="http://schemas.openxmlformats.org/officeDocument/2006/relationships/image"/><Relationship Id="rId11" Target="../media/image65.svg" Type="http://schemas.openxmlformats.org/officeDocument/2006/relationships/image"/><Relationship Id="rId12" Target="../notesSlides/notesSlide19.xml" Type="http://schemas.openxmlformats.org/officeDocument/2006/relationships/notesSlide"/><Relationship Id="rId2" Target="../media/image2.jpeg" Type="http://schemas.openxmlformats.org/officeDocument/2006/relationships/image"/><Relationship Id="rId3" Target="../media/image61.jpeg" Type="http://schemas.openxmlformats.org/officeDocument/2006/relationships/image"/><Relationship Id="rId4" Target="../media/image62.png" Type="http://schemas.openxmlformats.org/officeDocument/2006/relationships/image"/><Relationship Id="rId5" Target="../media/image63.svg" Type="http://schemas.openxmlformats.org/officeDocument/2006/relationships/image"/><Relationship Id="rId6" Target="../media/image53.png" Type="http://schemas.openxmlformats.org/officeDocument/2006/relationships/image"/><Relationship Id="rId7" Target="../media/image54.svg" Type="http://schemas.openxmlformats.org/officeDocument/2006/relationships/image"/><Relationship Id="rId8" Target="../media/image58.png" Type="http://schemas.openxmlformats.org/officeDocument/2006/relationships/image"/><Relationship Id="rId9" Target="../media/image59.sv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.jpeg" Type="http://schemas.openxmlformats.org/officeDocument/2006/relationships/image"/><Relationship Id="rId3" Target="../media/image66.png" Type="http://schemas.openxmlformats.org/officeDocument/2006/relationships/image"/><Relationship Id="rId4" Target="../media/image67.svg" Type="http://schemas.openxmlformats.org/officeDocument/2006/relationships/image"/><Relationship Id="rId5" Target="../notesSlides/notesSlide20.xml" Type="http://schemas.openxmlformats.org/officeDocument/2006/relationships/notesSlide"/><Relationship Id="rId6" Target="../media/image68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3954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B3954">
              <a:alpha val="88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508000" y="1651000"/>
            <a:ext cx="11176000" cy="152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伊朗新领袖“隐身执政”：美以赌上国运的斩首，为何反而养出了最可怕的对手？</a:t>
            </a:r>
            <a:endParaRPr lang="en-US" sz="1100"/>
          </a:p>
        </p:txBody>
      </p:sp>
      <p:cxnSp>
        <p:nvCxnSpPr>
          <p:cNvPr name="Connector 5" id="5"/>
          <p:cNvCxnSpPr/>
          <p:nvPr/>
        </p:nvCxnSpPr>
        <p:spPr>
          <a:xfrm rot="-11459" flipH="false" flipV="false">
            <a:off x="4191011" y="3295650"/>
            <a:ext cx="3810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FFD700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6" id="6"/>
          <p:cNvSpPr/>
          <p:nvPr/>
        </p:nvSpPr>
        <p:spPr>
          <a:xfrm rot="0" flipH="false" flipV="false">
            <a:off x="508000" y="3556000"/>
            <a:ext cx="11176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2200">
                <a:solidFill>
                  <a:srgbClr val="FFD700"/>
                </a:solidFill>
                <a:latin typeface="Noto Sans SC"/>
                <a:ea typeface="Noto Sans SC"/>
                <a:cs typeface="Noto Sans SC"/>
                <a:sym typeface="Noto Sans SC"/>
              </a:rPr>
              <a:t>一场针对斩首战术的顶级战略反杀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0" y="6781800"/>
            <a:ext cx="12192000" cy="76200"/>
          </a:xfrm>
          <a:prstGeom prst="roundRect">
            <a:avLst>
              <a:gd name="adj" fmla="val 0"/>
            </a:avLst>
          </a:prstGeom>
          <a:solidFill>
            <a:srgbClr val="FFD70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3954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B3954">
              <a:alpha val="9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508000"/>
            <a:ext cx="55372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目录 CONTENTS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206500"/>
            <a:ext cx="762000" cy="50800"/>
          </a:xfrm>
          <a:prstGeom prst="roundRect">
            <a:avLst>
              <a:gd name="adj" fmla="val 0"/>
            </a:avLst>
          </a:prstGeom>
          <a:solidFill>
            <a:srgbClr val="FFD70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762000" y="1651000"/>
            <a:ext cx="10668000" cy="762000"/>
          </a:xfrm>
          <a:prstGeom prst="roundRect">
            <a:avLst>
              <a:gd name="adj" fmla="val 16666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FFD700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16000" y="1879600"/>
            <a:ext cx="304800" cy="304800"/>
          </a:xfrm>
          <a:prstGeom prst="rect">
            <a:avLst/>
          </a:prstGeom>
        </p:spPr>
      </p:pic>
      <p:sp>
        <p:nvSpPr>
          <p:cNvPr name="AutoShape 8" id="8"/>
          <p:cNvSpPr/>
          <p:nvPr/>
        </p:nvSpPr>
        <p:spPr>
          <a:xfrm rot="0" flipH="false" flipV="false">
            <a:off x="1524000" y="1841500"/>
            <a:ext cx="889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01. 谁是穆杰塔巴？权力核心的“隐形人”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762000" y="2540000"/>
            <a:ext cx="10668000" cy="762000"/>
          </a:xfrm>
          <a:prstGeom prst="roundRect">
            <a:avLst>
              <a:gd name="adj" fmla="val 16666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FFD700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1016000" y="2768600"/>
            <a:ext cx="304800" cy="304800"/>
          </a:xfrm>
          <a:prstGeom prst="rect">
            <a:avLst/>
          </a:prstGeom>
        </p:spPr>
      </p:pic>
      <p:sp>
        <p:nvSpPr>
          <p:cNvPr name="AutoShape 11" id="11"/>
          <p:cNvSpPr/>
          <p:nvPr/>
        </p:nvSpPr>
        <p:spPr>
          <a:xfrm rot="0" flipH="false" flipV="false">
            <a:off x="1524000" y="2730500"/>
            <a:ext cx="889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02. 28天逆转：斩首行动如何养大噩梦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762000" y="3429000"/>
            <a:ext cx="10668000" cy="762000"/>
          </a:xfrm>
          <a:prstGeom prst="roundRect">
            <a:avLst>
              <a:gd name="adj" fmla="val 16666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FFD700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1016000" y="3657600"/>
            <a:ext cx="304800" cy="304800"/>
          </a:xfrm>
          <a:prstGeom prst="rect">
            <a:avLst/>
          </a:prstGeom>
        </p:spPr>
      </p:pic>
      <p:sp>
        <p:nvSpPr>
          <p:cNvPr name="AutoShape 14" id="14"/>
          <p:cNvSpPr/>
          <p:nvPr/>
        </p:nvSpPr>
        <p:spPr>
          <a:xfrm rot="0" flipH="false" flipV="false">
            <a:off x="1524000" y="3619500"/>
            <a:ext cx="889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03. “无头模式”：斩首战术被彻底废掉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762000" y="4318000"/>
            <a:ext cx="10668000" cy="762000"/>
          </a:xfrm>
          <a:prstGeom prst="roundRect">
            <a:avLst>
              <a:gd name="adj" fmla="val 16666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FFD700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1016000" y="4546600"/>
            <a:ext cx="304800" cy="304800"/>
          </a:xfrm>
          <a:prstGeom prst="rect">
            <a:avLst/>
          </a:prstGeom>
        </p:spPr>
      </p:pic>
      <p:sp>
        <p:nvSpPr>
          <p:cNvPr name="AutoShape 17" id="17"/>
          <p:cNvSpPr/>
          <p:nvPr/>
        </p:nvSpPr>
        <p:spPr>
          <a:xfrm rot="0" flipH="false" flipV="false">
            <a:off x="1524000" y="4508500"/>
            <a:ext cx="889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04. 戳中命门：商人总统最怕没有交易对手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762000" y="5207000"/>
            <a:ext cx="10668000" cy="762000"/>
          </a:xfrm>
          <a:prstGeom prst="roundRect">
            <a:avLst>
              <a:gd name="adj" fmla="val 16666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FFD700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9" id="19"/>
          <p:cNvPicPr>
            <a:picLocks noChangeAspect="true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0" flipH="false" flipV="false">
            <a:off x="1016000" y="5435600"/>
            <a:ext cx="304800" cy="304800"/>
          </a:xfrm>
          <a:prstGeom prst="rect">
            <a:avLst/>
          </a:prstGeom>
        </p:spPr>
      </p:pic>
      <p:sp>
        <p:nvSpPr>
          <p:cNvPr name="AutoShape 20" id="20"/>
          <p:cNvSpPr/>
          <p:nvPr/>
        </p:nvSpPr>
        <p:spPr>
          <a:xfrm rot="0" flipH="false" flipV="false">
            <a:off x="1524000" y="5397500"/>
            <a:ext cx="889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05. 终局：斩首战术的战略崩盘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3954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gradFill rotWithShape="true">
            <a:gsLst>
              <a:gs pos="0">
                <a:srgbClr val="0B3954">
                  <a:alpha val="95000"/>
                </a:srgbClr>
              </a:gs>
              <a:gs pos="50000">
                <a:srgbClr val="0B3954">
                  <a:alpha val="80000"/>
                </a:srgbClr>
              </a:gs>
              <a:gs pos="100000">
                <a:srgbClr val="0B3954">
                  <a:alpha val="20000"/>
                </a:srgbClr>
              </a:gs>
            </a:gsLst>
            <a:lin ang="0"/>
          </a:gra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778000"/>
            <a:ext cx="2540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9600">
                <a:solidFill>
                  <a:srgbClr val="FFD700"/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  <a:endParaRPr lang="en-US" sz="1100"/>
          </a:p>
        </p:txBody>
      </p:sp>
      <p:cxnSp>
        <p:nvCxnSpPr>
          <p:cNvPr name="Connector 5" id="5"/>
          <p:cNvCxnSpPr/>
          <p:nvPr/>
        </p:nvCxnSpPr>
        <p:spPr>
          <a:xfrm rot="-34376" flipH="false" flipV="false">
            <a:off x="762032" y="3168650"/>
            <a:ext cx="1270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50800" cmpd="sng" cap="flat">
            <a:solidFill>
              <a:srgbClr val="FFD700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6" id="6"/>
          <p:cNvSpPr/>
          <p:nvPr/>
        </p:nvSpPr>
        <p:spPr>
          <a:xfrm rot="0" flipH="false" flipV="false">
            <a:off x="762000" y="3429000"/>
            <a:ext cx="1066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谁是穆杰塔巴？权力核心的“隐形人”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762000" y="4064000"/>
            <a:ext cx="1066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 spc="200">
                <a:solidFill>
                  <a:srgbClr val="FFFFFF">
                    <a:alpha val="6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WHO IS MOJTABA? THE INVISIBLE MAN IN THE CORE OF POWER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762000" y="5334000"/>
            <a:ext cx="762000" cy="50800"/>
          </a:xfrm>
          <a:prstGeom prst="roundRect">
            <a:avLst>
              <a:gd name="adj" fmla="val 0"/>
            </a:avLst>
          </a:prstGeom>
          <a:solidFill>
            <a:srgbClr val="FFD70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3954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B3954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508000"/>
            <a:ext cx="50292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神秘当选与持续“隐身”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206500"/>
            <a:ext cx="762000" cy="50800"/>
          </a:xfrm>
          <a:prstGeom prst="roundRect">
            <a:avLst>
              <a:gd name="adj" fmla="val 0"/>
            </a:avLst>
          </a:prstGeom>
          <a:solidFill>
            <a:srgbClr val="FFD70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3"/>
          <a:srcRect l="0" r="0" t="0" b="0"/>
          <a:stretch>
            <a:fillRect/>
          </a:stretch>
        </p:blipFill>
        <p:spPr>
          <a:xfrm rot="0" flipH="false" flipV="false">
            <a:off x="762000" y="1778000"/>
            <a:ext cx="2286000" cy="2286000"/>
          </a:xfrm>
          <a:prstGeom prst="ellipse">
            <a:avLst/>
          </a:prstGeom>
          <a:noFill/>
          <a:ln w="25400" cmpd="sng" cap="flat">
            <a:solidFill>
              <a:srgbClr val="FFD700">
                <a:alpha val="50000"/>
              </a:srgbClr>
            </a:solidFill>
            <a:prstDash val="solid"/>
            <a:round/>
          </a:ln>
          <a:effectLst>
            <a:outerShdw dir="2700000" dist="63500" blurRad="127000" algn="tl" rotWithShape="false">
              <a:srgbClr val="000000">
                <a:alpha val="30000"/>
              </a:srgbClr>
            </a:outerShdw>
          </a:effectLst>
        </p:spPr>
      </p:pic>
      <p:sp>
        <p:nvSpPr>
          <p:cNvPr name="AutoShape 7" id="7"/>
          <p:cNvSpPr/>
          <p:nvPr/>
        </p:nvSpPr>
        <p:spPr>
          <a:xfrm rot="0" flipH="false" flipV="false">
            <a:off x="3556000" y="1651000"/>
            <a:ext cx="7366000" cy="330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16666"/>
              </a:lnSpc>
              <a:defRPr/>
            </a:pPr>
            <a:r>
              <a:rPr lang="en-US" b="true" i="false" strike="noStrike" u="none" sz="1800">
                <a:solidFill>
                  <a:srgbClr val="FFD700"/>
                </a:solidFill>
                <a:latin typeface="Roboto"/>
                <a:ea typeface="Roboto"/>
                <a:cs typeface="Roboto"/>
                <a:sym typeface="Roboto"/>
              </a:rPr>
              <a:t>◆ 紧急当选：</a:t>
            </a:r>
            <a:r>
              <a:rPr lang="en-US" b="false" i="false" strike="noStrike" u="none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2026年3月8日，穆杰塔巴·哈梅内伊在老领袖遇刺后仅9天被紧急推举为伊朗最高领袖。</a:t>
            </a:r>
            <a:r>
              <a:rPr lang="en-US" b="false" i="false" strike="noStrike" u="none" sz="1800">
                <a:solidFill>
                  <a:srgbClr val="1F2329"/>
                </a:solidFill>
                <a:latin typeface="Roboto"/>
                <a:ea typeface="Roboto"/>
                <a:cs typeface="Roboto"/>
                <a:sym typeface="Roboto"/>
              </a:rPr>
              <a:t/>
            </a:r>
            <a:endParaRPr lang="en-US" sz="1100"/>
          </a:p>
          <a:p>
            <a:pPr algn="l" indent="0">
              <a:lnSpc>
                <a:spcPct val="116666"/>
              </a:lnSpc>
            </a:pPr>
            <a:r>
              <a:rPr lang="en-US" b="true" i="false" strike="noStrike" u="none" sz="1800">
                <a:solidFill>
                  <a:srgbClr val="FFD700"/>
                </a:solidFill>
                <a:latin typeface="Roboto"/>
                <a:ea typeface="Roboto"/>
                <a:cs typeface="Roboto"/>
                <a:sym typeface="Roboto"/>
              </a:rPr>
              <a:t>◆ 全程隐身：</a:t>
            </a:r>
            <a:r>
              <a:rPr lang="en-US" b="false" i="false" strike="noStrike" u="none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自当选以来，他从未公开露面，未发表就职演讲，也未出席任何公开集会。</a:t>
            </a:r>
            <a:r>
              <a:rPr lang="en-US" b="false" i="false" strike="noStrike" u="none" sz="1800">
                <a:solidFill>
                  <a:srgbClr val="1F2329"/>
                </a:solidFill>
                <a:latin typeface="Roboto"/>
                <a:ea typeface="Roboto"/>
                <a:cs typeface="Roboto"/>
                <a:sym typeface="Roboto"/>
              </a:rPr>
              <a:t/>
            </a:r>
          </a:p>
          <a:p>
            <a:pPr algn="l" indent="0">
              <a:lnSpc>
                <a:spcPct val="116666"/>
              </a:lnSpc>
            </a:pPr>
            <a:r>
              <a:rPr lang="en-US" b="true" i="false" strike="noStrike" u="none" sz="1800">
                <a:solidFill>
                  <a:srgbClr val="FFD700"/>
                </a:solidFill>
                <a:latin typeface="Roboto"/>
                <a:ea typeface="Roboto"/>
                <a:cs typeface="Roboto"/>
                <a:sym typeface="Roboto"/>
              </a:rPr>
              <a:t>◆ 信息匮乏：</a:t>
            </a:r>
            <a:r>
              <a:rPr lang="en-US" b="false" i="false" strike="noStrike" u="none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官方仅发布过他的静态照片和一份书面声明，未提供任何动态影像资料。</a:t>
            </a:r>
            <a:r>
              <a:rPr lang="en-US" b="false" i="false" strike="noStrike" u="none" sz="1800">
                <a:solidFill>
                  <a:srgbClr val="1F2329"/>
                </a:solidFill>
                <a:latin typeface="Roboto"/>
                <a:ea typeface="Roboto"/>
                <a:cs typeface="Roboto"/>
                <a:sym typeface="Roboto"/>
              </a:rPr>
              <a:t/>
            </a:r>
          </a:p>
          <a:p>
            <a:pPr algn="l" indent="0">
              <a:lnSpc>
                <a:spcPct val="116666"/>
              </a:lnSpc>
            </a:pPr>
            <a:r>
              <a:rPr lang="en-US" b="true" i="false" strike="noStrike" u="none" sz="1800">
                <a:solidFill>
                  <a:srgbClr val="FFD700"/>
                </a:solidFill>
                <a:latin typeface="Roboto"/>
                <a:ea typeface="Roboto"/>
                <a:cs typeface="Roboto"/>
                <a:sym typeface="Roboto"/>
              </a:rPr>
              <a:t>◆ 外界质疑：</a:t>
            </a:r>
            <a:r>
              <a:rPr lang="en-US" b="false" i="false" strike="noStrike" u="none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西方媒体借此大肆炒作，质疑其“生死不明”，并散布各种阴谋论。</a:t>
            </a:r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762000" y="5842000"/>
            <a:ext cx="1066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FFFFFF">
                    <a:alpha val="60000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新闻分析 | 伊朗局势追踪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3954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B3954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508000"/>
            <a:ext cx="75438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数十年如一日的“隐形”政治生涯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219200"/>
            <a:ext cx="762000" cy="50800"/>
          </a:xfrm>
          <a:prstGeom prst="roundRect">
            <a:avLst>
              <a:gd name="adj" fmla="val 0"/>
            </a:avLst>
          </a:prstGeom>
          <a:solidFill>
            <a:srgbClr val="FFD70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762000" y="1651000"/>
            <a:ext cx="304800" cy="304800"/>
          </a:xfrm>
          <a:prstGeom prst="rect">
            <a:avLst/>
          </a:prstGeom>
        </p:spPr>
      </p:pic>
      <p:sp>
        <p:nvSpPr>
          <p:cNvPr name="AutoShape 7" id="7"/>
          <p:cNvSpPr/>
          <p:nvPr/>
        </p:nvSpPr>
        <p:spPr>
          <a:xfrm rot="0" flipH="false" flipV="false">
            <a:off x="1193800" y="1600200"/>
            <a:ext cx="5334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穆杰塔巴早在80年代就进入了伊朗权力核心，但从未担任过有实权的公开职务。</a:t>
            </a:r>
            <a:endParaRPr lang="en-US" sz="1100"/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762000" y="2540000"/>
            <a:ext cx="304800" cy="304800"/>
          </a:xfrm>
          <a:prstGeom prst="rect">
            <a:avLst/>
          </a:prstGeom>
        </p:spPr>
      </p:pic>
      <p:sp>
        <p:nvSpPr>
          <p:cNvPr name="AutoShape 9" id="9"/>
          <p:cNvSpPr/>
          <p:nvPr/>
        </p:nvSpPr>
        <p:spPr>
          <a:xfrm rot="0" flipH="false" flipV="false">
            <a:off x="1193800" y="2489200"/>
            <a:ext cx="5334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过去三十年，他极少公开露面，从不发表演讲，也不接受任何采访。</a:t>
            </a:r>
            <a:endParaRPr lang="en-US" sz="1100"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762000" y="3429000"/>
            <a:ext cx="304800" cy="304800"/>
          </a:xfrm>
          <a:prstGeom prst="rect">
            <a:avLst/>
          </a:prstGeom>
        </p:spPr>
      </p:pic>
      <p:sp>
        <p:nvSpPr>
          <p:cNvPr name="AutoShape 11" id="11"/>
          <p:cNvSpPr/>
          <p:nvPr/>
        </p:nvSpPr>
        <p:spPr>
          <a:xfrm rot="0" flipH="false" flipV="false">
            <a:off x="1193800" y="3378200"/>
            <a:ext cx="5334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其父前最高领袖哈梅内伊刻意避免将他塑造为继承人，以维护共和体制。</a:t>
            </a:r>
            <a:endParaRPr lang="en-US" sz="1100"/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762000" y="4318000"/>
            <a:ext cx="304800" cy="304800"/>
          </a:xfrm>
          <a:prstGeom prst="rect">
            <a:avLst/>
          </a:prstGeom>
        </p:spPr>
      </p:pic>
      <p:sp>
        <p:nvSpPr>
          <p:cNvPr name="AutoShape 13" id="13"/>
          <p:cNvSpPr/>
          <p:nvPr/>
        </p:nvSpPr>
        <p:spPr>
          <a:xfrm rot="0" flipH="false" flipV="false">
            <a:off x="1193800" y="4267200"/>
            <a:ext cx="5334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他的“隐身”并非始于今日，而是其数十年政治生涯的常态。</a:t>
            </a:r>
            <a:endParaRPr lang="en-US" sz="1100"/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11"/>
          <a:srcRect l="86" r="86" t="0" b="0"/>
          <a:stretch>
            <a:fillRect/>
          </a:stretch>
        </p:blipFill>
        <p:spPr>
          <a:xfrm rot="0" flipH="false" flipV="false">
            <a:off x="7366000" y="1651000"/>
            <a:ext cx="3429000" cy="2286000"/>
          </a:xfrm>
          <a:prstGeom prst="roundRect">
            <a:avLst>
              <a:gd name="adj" fmla="val 5555"/>
            </a:avLst>
          </a:prstGeom>
          <a:noFill/>
          <a:ln w="25400" cmpd="sng" cap="flat">
            <a:solidFill>
              <a:srgbClr val="FFD700">
                <a:alpha val="100000"/>
              </a:srgbClr>
            </a:solidFill>
            <a:prstDash val="solid"/>
            <a:round/>
          </a:ln>
          <a:effectLst>
            <a:outerShdw dir="2700000" dist="127000" blurRad="254000" algn="tl" rotWithShape="false">
              <a:srgbClr val="000000">
                <a:alpha val="50000"/>
              </a:srgbClr>
            </a:outerShdw>
          </a:effectLst>
        </p:spPr>
      </p:pic>
      <p:sp>
        <p:nvSpPr>
          <p:cNvPr name="AutoShape 15" id="15"/>
          <p:cNvSpPr/>
          <p:nvPr/>
        </p:nvSpPr>
        <p:spPr>
          <a:xfrm rot="0" flipH="false" flipV="false">
            <a:off x="7366000" y="4064000"/>
            <a:ext cx="3429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true" strike="noStrike" u="none" sz="1400">
                <a:solidFill>
                  <a:srgbClr val="FFFFFF">
                    <a:alpha val="70196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象征：隐藏在权力幕后的“隐形”执政者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0" y="6756400"/>
            <a:ext cx="12192000" cy="101600"/>
          </a:xfrm>
          <a:prstGeom prst="roundRect">
            <a:avLst>
              <a:gd name="adj" fmla="val 0"/>
            </a:avLst>
          </a:prstGeom>
          <a:solidFill>
            <a:srgbClr val="FFD70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3954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B3954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4826000" y="1651000"/>
            <a:ext cx="2540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8000">
                <a:solidFill>
                  <a:srgbClr val="FFD700"/>
                </a:solidFill>
                <a:latin typeface="Arial Black"/>
                <a:ea typeface="Arial Black"/>
                <a:cs typeface="Arial Black"/>
                <a:sym typeface="Arial Black"/>
              </a:rPr>
              <a:t>02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5715000" y="3048000"/>
            <a:ext cx="762000" cy="50800"/>
          </a:xfrm>
          <a:prstGeom prst="roundRect">
            <a:avLst>
              <a:gd name="adj" fmla="val 0"/>
            </a:avLst>
          </a:prstGeom>
          <a:solidFill>
            <a:srgbClr val="FFD70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635000" y="3429000"/>
            <a:ext cx="10922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28天逆转：斩首行动如何养大噩梦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0" y="6096000"/>
            <a:ext cx="12192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200" spc="200">
                <a:solidFill>
                  <a:srgbClr val="FFFFFF">
                    <a:alpha val="6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CHAPTER TRANSITION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3954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B3954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508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“史诗怒火”：突破底线的斩首行动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206500"/>
            <a:ext cx="762000" cy="50800"/>
          </a:xfrm>
          <a:prstGeom prst="roundRect">
            <a:avLst>
              <a:gd name="adj" fmla="val 0"/>
            </a:avLst>
          </a:prstGeom>
          <a:solidFill>
            <a:srgbClr val="FFD70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762000" y="1651000"/>
            <a:ext cx="533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D700"/>
                </a:solidFill>
                <a:latin typeface="Roboto"/>
                <a:ea typeface="Roboto"/>
                <a:cs typeface="Roboto"/>
                <a:sym typeface="Roboto"/>
              </a:rPr>
              <a:t>行动背景：</a:t>
            </a:r>
            <a:r>
              <a:rPr lang="en-US" b="false" i="false" strike="noStrike" u="none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2026年2月28日，美以联合发动空袭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762000" y="2159000"/>
            <a:ext cx="5334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D700"/>
                </a:solidFill>
                <a:latin typeface="Roboto"/>
                <a:ea typeface="Roboto"/>
                <a:cs typeface="Roboto"/>
                <a:sym typeface="Roboto"/>
              </a:rPr>
              <a:t>核心目标：</a:t>
            </a:r>
            <a:r>
              <a:rPr lang="en-US" b="false" i="false" strike="noStrike" u="none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精准斩首伊朗最高领导层，试图彻底瘫痪其指挥体系。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762000" y="3048000"/>
            <a:ext cx="5334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D700"/>
                </a:solidFill>
                <a:latin typeface="Roboto"/>
                <a:ea typeface="Roboto"/>
                <a:cs typeface="Roboto"/>
                <a:sym typeface="Roboto"/>
              </a:rPr>
              <a:t>惨重后果：</a:t>
            </a:r>
            <a:r>
              <a:rPr lang="en-US" b="false" i="false" strike="noStrike" u="none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最高领袖哈梅内伊及革命卫队总司令等7名核心决策层人员在空袭中身亡。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762000" y="4191000"/>
            <a:ext cx="5334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D700"/>
                </a:solidFill>
                <a:latin typeface="Roboto"/>
                <a:ea typeface="Roboto"/>
                <a:cs typeface="Roboto"/>
                <a:sym typeface="Roboto"/>
              </a:rPr>
              <a:t>性质定性：</a:t>
            </a:r>
            <a:r>
              <a:rPr lang="en-US" b="false" i="false" strike="noStrike" u="none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这是一次公然践踏国际法、突破现代战争底线的国家元首级斩首行动。</a:t>
            </a:r>
            <a:endParaRPr lang="en-US" sz="1100"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3"/>
          <a:srcRect l="0" r="0" t="77" b="77"/>
          <a:stretch>
            <a:fillRect/>
          </a:stretch>
        </p:blipFill>
        <p:spPr>
          <a:xfrm rot="0" flipH="false" flipV="false">
            <a:off x="6858000" y="1651000"/>
            <a:ext cx="3429000" cy="2286000"/>
          </a:xfrm>
          <a:prstGeom prst="roundRect">
            <a:avLst>
              <a:gd name="adj" fmla="val 5555"/>
            </a:avLst>
          </a:prstGeom>
          <a:noFill/>
          <a:ln w="12700" cmpd="sng" cap="flat">
            <a:solidFill>
              <a:srgbClr val="FFD700">
                <a:alpha val="100000"/>
              </a:srgbClr>
            </a:solidFill>
            <a:prstDash val="solid"/>
            <a:round/>
          </a:ln>
          <a:effectLst>
            <a:outerShdw dir="2700000" dist="63500" blurRad="127000" algn="tl" rotWithShape="false">
              <a:srgbClr val="000000">
                <a:alpha val="50000"/>
              </a:srgbClr>
            </a:outerShdw>
          </a:effectLst>
        </p:spPr>
      </p:pic>
      <p:sp>
        <p:nvSpPr>
          <p:cNvPr name="AutoShape 11" id="11"/>
          <p:cNvSpPr/>
          <p:nvPr/>
        </p:nvSpPr>
        <p:spPr>
          <a:xfrm rot="0" flipH="false" flipV="false">
            <a:off x="6858000" y="4064000"/>
            <a:ext cx="3429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FFFFFF">
                    <a:alpha val="70196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空袭行动中发射的导弹升空瞬间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762000" y="5334000"/>
            <a:ext cx="3810000" cy="508000"/>
          </a:xfrm>
          <a:prstGeom prst="roundRect">
            <a:avLst>
              <a:gd name="adj" fmla="val 50000"/>
            </a:avLst>
          </a:prstGeom>
          <a:solidFill>
            <a:srgbClr val="FFD700">
              <a:alpha val="15000"/>
            </a:srgbClr>
          </a:solidFill>
          <a:ln w="12700" cmpd="sng" cap="flat">
            <a:solidFill>
              <a:srgbClr val="FFD700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762000" y="5397500"/>
            <a:ext cx="381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FD700"/>
                </a:solidFill>
                <a:latin typeface="Poppins"/>
                <a:ea typeface="Poppins"/>
                <a:cs typeface="Poppins"/>
                <a:sym typeface="Poppins"/>
              </a:rPr>
              <a:t>OPERATION: EPIC FURY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3954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B3954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508000"/>
            <a:ext cx="85471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伊朗的快速反应：权力接替与全面反击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524000"/>
            <a:ext cx="5842000" cy="889000"/>
          </a:xfrm>
          <a:prstGeom prst="roundRect">
            <a:avLst>
              <a:gd name="adj" fmla="val 14285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FFD700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952500" y="1765300"/>
            <a:ext cx="406400" cy="406400"/>
          </a:xfrm>
          <a:prstGeom prst="rect">
            <a:avLst/>
          </a:prstGeom>
        </p:spPr>
      </p:pic>
      <p:sp>
        <p:nvSpPr>
          <p:cNvPr name="AutoShape 7" id="7"/>
          <p:cNvSpPr/>
          <p:nvPr/>
        </p:nvSpPr>
        <p:spPr>
          <a:xfrm rot="0" flipH="false" flipV="false">
            <a:off x="1460500" y="1587500"/>
            <a:ext cx="4953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惊人的组织力与预案能力</a:t>
            </a:r>
            <a:r>
              <a:rPr lang="en-US" b="false" i="false" strike="noStrike" u="none" sz="1600">
                <a:solidFill>
                  <a:srgbClr val="1F2329"/>
                </a:solidFill>
                <a:latin typeface="Roboto"/>
                <a:ea typeface="Roboto"/>
                <a:cs typeface="Roboto"/>
                <a:sym typeface="Roboto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FFFFFF">
                    <a:alpha val="80000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面对重创，伊朗展现了高度的危机应对与国家动员能力。</a:t>
            </a:r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762000" y="2540000"/>
            <a:ext cx="5842000" cy="889000"/>
          </a:xfrm>
          <a:prstGeom prst="roundRect">
            <a:avLst>
              <a:gd name="adj" fmla="val 14285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FFD700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952500" y="2781300"/>
            <a:ext cx="406400" cy="406400"/>
          </a:xfrm>
          <a:prstGeom prst="rect">
            <a:avLst/>
          </a:prstGeom>
        </p:spPr>
      </p:pic>
      <p:sp>
        <p:nvSpPr>
          <p:cNvPr name="AutoShape 10" id="10"/>
          <p:cNvSpPr/>
          <p:nvPr/>
        </p:nvSpPr>
        <p:spPr>
          <a:xfrm rot="0" flipH="false" flipV="false">
            <a:off x="1460500" y="2603500"/>
            <a:ext cx="4953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四级权力接替机制启动</a:t>
            </a:r>
            <a:r>
              <a:rPr lang="en-US" b="false" i="false" strike="noStrike" u="none" sz="1600">
                <a:solidFill>
                  <a:srgbClr val="1F2329"/>
                </a:solidFill>
                <a:latin typeface="Roboto"/>
                <a:ea typeface="Roboto"/>
                <a:cs typeface="Roboto"/>
                <a:sym typeface="Roboto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FFFFFF">
                    <a:alpha val="80000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临时委员会迅速介入，稳定国家机器，确保政令畅通。</a:t>
            </a:r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762000" y="3556000"/>
            <a:ext cx="5842000" cy="889000"/>
          </a:xfrm>
          <a:prstGeom prst="roundRect">
            <a:avLst>
              <a:gd name="adj" fmla="val 14285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FFD700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952500" y="3797300"/>
            <a:ext cx="406400" cy="406400"/>
          </a:xfrm>
          <a:prstGeom prst="rect">
            <a:avLst/>
          </a:prstGeom>
        </p:spPr>
      </p:pic>
      <p:sp>
        <p:nvSpPr>
          <p:cNvPr name="AutoShape 13" id="13"/>
          <p:cNvSpPr/>
          <p:nvPr/>
        </p:nvSpPr>
        <p:spPr>
          <a:xfrm rot="0" flipH="false" flipV="false">
            <a:off x="1460500" y="3619500"/>
            <a:ext cx="4953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去中心化马赛克防御模式</a:t>
            </a:r>
            <a:r>
              <a:rPr lang="en-US" b="false" i="false" strike="noStrike" u="none" sz="1600">
                <a:solidFill>
                  <a:srgbClr val="1F2329"/>
                </a:solidFill>
                <a:latin typeface="Roboto"/>
                <a:ea typeface="Roboto"/>
                <a:cs typeface="Roboto"/>
                <a:sym typeface="Roboto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FFFFFF">
                    <a:alpha val="80000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革命卫队31个作战单元同步反击，展现分布式作战能力。</a:t>
            </a:r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762000" y="4572000"/>
            <a:ext cx="5842000" cy="889000"/>
          </a:xfrm>
          <a:prstGeom prst="roundRect">
            <a:avLst>
              <a:gd name="adj" fmla="val 14285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FFD700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952500" y="4813300"/>
            <a:ext cx="406400" cy="406400"/>
          </a:xfrm>
          <a:prstGeom prst="rect">
            <a:avLst/>
          </a:prstGeom>
        </p:spPr>
      </p:pic>
      <p:sp>
        <p:nvSpPr>
          <p:cNvPr name="AutoShape 16" id="16"/>
          <p:cNvSpPr/>
          <p:nvPr/>
        </p:nvSpPr>
        <p:spPr>
          <a:xfrm rot="0" flipH="false" flipV="false">
            <a:off x="1460500" y="4635500"/>
            <a:ext cx="4953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权力平稳过渡</a:t>
            </a:r>
            <a:r>
              <a:rPr lang="en-US" b="false" i="false" strike="noStrike" u="none" sz="1600">
                <a:solidFill>
                  <a:srgbClr val="1F2329"/>
                </a:solidFill>
                <a:latin typeface="Roboto"/>
                <a:ea typeface="Roboto"/>
                <a:cs typeface="Roboto"/>
                <a:sym typeface="Roboto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FFFFFF">
                    <a:alpha val="80000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空袭后仅9天，紧急推举穆杰塔巴为新领袖，完成交接。</a:t>
            </a:r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7366000" y="1651000"/>
            <a:ext cx="3556000" cy="2794000"/>
          </a:xfrm>
          <a:prstGeom prst="roundRect">
            <a:avLst>
              <a:gd name="adj" fmla="val 9090"/>
            </a:avLst>
          </a:prstGeom>
          <a:solidFill>
            <a:srgbClr val="FFFFFF">
              <a:alpha val="10000"/>
            </a:srgbClr>
          </a:solidFill>
          <a:ln w="12700" cmpd="sng" cap="flat">
            <a:solidFill>
              <a:srgbClr val="FFD700">
                <a:alpha val="5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8" id="18"/>
          <p:cNvPicPr>
            <a:picLocks noChangeAspect="true"/>
          </p:cNvPicPr>
          <p:nvPr/>
        </p:nvPicPr>
        <p:blipFill>
          <a:blip r:embed="rId11"/>
          <a:srcRect l="0" r="0" t="0" b="0"/>
          <a:stretch>
            <a:fillRect/>
          </a:stretch>
        </p:blipFill>
        <p:spPr>
          <a:xfrm rot="0" flipH="false" flipV="false">
            <a:off x="8128000" y="1778000"/>
            <a:ext cx="2032000" cy="2032000"/>
          </a:xfrm>
          <a:prstGeom prst="ellipse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19" id="19"/>
          <p:cNvSpPr/>
          <p:nvPr/>
        </p:nvSpPr>
        <p:spPr>
          <a:xfrm rot="0" flipH="false" flipV="false">
            <a:off x="7493000" y="3937000"/>
            <a:ext cx="3302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FFD700"/>
                </a:solidFill>
                <a:latin typeface="Roboto"/>
                <a:ea typeface="Roboto"/>
                <a:cs typeface="Roboto"/>
                <a:sym typeface="Roboto"/>
              </a:rPr>
              <a:t>网络结构与快速响应机制示意</a:t>
            </a:r>
            <a:endParaRPr lang="en-US" sz="1100"/>
          </a:p>
        </p:txBody>
      </p:sp>
      <p:cxnSp>
        <p:nvCxnSpPr>
          <p:cNvPr name="Connector 20" id="20"/>
          <p:cNvCxnSpPr/>
          <p:nvPr/>
        </p:nvCxnSpPr>
        <p:spPr>
          <a:xfrm rot="-4092" flipH="false" flipV="false">
            <a:off x="762004" y="5708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1" id="21"/>
          <p:cNvSpPr/>
          <p:nvPr/>
        </p:nvSpPr>
        <p:spPr>
          <a:xfrm rot="0" flipH="false" flipV="false">
            <a:off x="762000" y="5842000"/>
            <a:ext cx="1066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FFFFFF">
                    <a:alpha val="60000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“美以的算盘落空了，伊朗以惊人的速度完成了权力交接和全面反击。”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3954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B3954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0" y="1397000"/>
            <a:ext cx="12192000" cy="152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9600">
                <a:solidFill>
                  <a:srgbClr val="FFD700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5715000" y="3048000"/>
            <a:ext cx="762000" cy="50800"/>
          </a:xfrm>
          <a:prstGeom prst="roundRect">
            <a:avLst>
              <a:gd name="adj" fmla="val 0"/>
            </a:avLst>
          </a:prstGeom>
          <a:solidFill>
            <a:srgbClr val="FFD70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635000" y="3429000"/>
            <a:ext cx="10922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“无头模式”：斩首战术被彻底废掉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0" y="5715000"/>
            <a:ext cx="12192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FFFFFF">
                    <a:alpha val="6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CHAPTER TRANSITION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3954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B3954">
              <a:alpha val="9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508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近20年的准备：去中心化马赛克防御体系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270000"/>
            <a:ext cx="10668000" cy="50800"/>
          </a:xfrm>
          <a:prstGeom prst="roundRect">
            <a:avLst>
              <a:gd name="adj" fmla="val 0"/>
            </a:avLst>
          </a:prstGeom>
          <a:solidFill>
            <a:srgbClr val="FFD70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762000" y="1778000"/>
            <a:ext cx="6604000" cy="3556000"/>
          </a:xfrm>
          <a:prstGeom prst="roundRect">
            <a:avLst>
              <a:gd name="adj" fmla="val 3571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FFD700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16000" y="2032000"/>
            <a:ext cx="304800" cy="304800"/>
          </a:xfrm>
          <a:prstGeom prst="rect">
            <a:avLst/>
          </a:prstGeom>
        </p:spPr>
      </p:pic>
      <p:sp>
        <p:nvSpPr>
          <p:cNvPr name="AutoShape 8" id="8"/>
          <p:cNvSpPr/>
          <p:nvPr/>
        </p:nvSpPr>
        <p:spPr>
          <a:xfrm rot="0" flipH="false" flipV="false">
            <a:off x="1397000" y="1968500"/>
            <a:ext cx="5842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D700"/>
                </a:solidFill>
                <a:latin typeface="Roboto"/>
                <a:ea typeface="Roboto"/>
                <a:cs typeface="Roboto"/>
                <a:sym typeface="Roboto"/>
              </a:rPr>
              <a:t>战略起源：</a:t>
            </a:r>
            <a:r>
              <a:rPr lang="en-US" b="false" i="false" strike="noStrike" u="none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这套体系并非临时抱佛脚，而是伊朗革命卫队前司令贾法里在2005年就提出的前瞻性战略。</a:t>
            </a:r>
            <a:endParaRPr lang="en-US" sz="1100"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1016000" y="2921000"/>
            <a:ext cx="304800" cy="304800"/>
          </a:xfrm>
          <a:prstGeom prst="rect">
            <a:avLst/>
          </a:prstGeom>
        </p:spPr>
      </p:pic>
      <p:sp>
        <p:nvSpPr>
          <p:cNvPr name="AutoShape 10" id="10"/>
          <p:cNvSpPr/>
          <p:nvPr/>
        </p:nvSpPr>
        <p:spPr>
          <a:xfrm rot="0" flipH="false" flipV="false">
            <a:off x="1397000" y="2857500"/>
            <a:ext cx="5842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D700"/>
                </a:solidFill>
                <a:latin typeface="Roboto"/>
                <a:ea typeface="Roboto"/>
                <a:cs typeface="Roboto"/>
                <a:sym typeface="Roboto"/>
              </a:rPr>
              <a:t>核心目标：</a:t>
            </a:r>
            <a:r>
              <a:rPr lang="en-US" b="false" i="false" strike="noStrike" u="none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破解“摧毁中枢即瘫痪体系”的传统战争逻辑，确保在遭受打击后仍能保持作战能力。</a:t>
            </a:r>
            <a:endParaRPr lang="en-US" sz="1100"/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1016000" y="3810000"/>
            <a:ext cx="304800" cy="304800"/>
          </a:xfrm>
          <a:prstGeom prst="rect">
            <a:avLst/>
          </a:prstGeom>
        </p:spPr>
      </p:pic>
      <p:sp>
        <p:nvSpPr>
          <p:cNvPr name="AutoShape 12" id="12"/>
          <p:cNvSpPr/>
          <p:nvPr/>
        </p:nvSpPr>
        <p:spPr>
          <a:xfrm rot="0" flipH="false" flipV="false">
            <a:off x="1397000" y="3746500"/>
            <a:ext cx="5842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D700"/>
                </a:solidFill>
                <a:latin typeface="Roboto"/>
                <a:ea typeface="Roboto"/>
                <a:cs typeface="Roboto"/>
                <a:sym typeface="Roboto"/>
              </a:rPr>
              <a:t>体系架构：</a:t>
            </a:r>
            <a:r>
              <a:rPr lang="en-US" b="false" i="false" strike="noStrike" u="none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经过近20年建设，已成为覆盖军事、政治、金融全维度的成熟战争架构，具备极强的韧性。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7620000" y="1778000"/>
            <a:ext cx="3302000" cy="3556000"/>
          </a:xfrm>
          <a:prstGeom prst="roundRect">
            <a:avLst>
              <a:gd name="adj" fmla="val 3846"/>
            </a:avLst>
          </a:prstGeom>
          <a:solidFill>
            <a:srgbClr val="FFFFFF">
              <a:alpha val="10000"/>
            </a:srgbClr>
          </a:solidFill>
          <a:ln w="12700" cmpd="sng" cap="flat">
            <a:solidFill>
              <a:srgbClr val="FFFFFF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9"/>
          <a:srcRect l="0" r="0" t="0" b="0"/>
          <a:stretch>
            <a:fillRect/>
          </a:stretch>
        </p:blipFill>
        <p:spPr>
          <a:xfrm rot="0" flipH="false" flipV="false">
            <a:off x="8128000" y="2032000"/>
            <a:ext cx="2286000" cy="2286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15" id="15"/>
          <p:cNvSpPr/>
          <p:nvPr/>
        </p:nvSpPr>
        <p:spPr>
          <a:xfrm rot="0" flipH="false" flipV="false">
            <a:off x="7747000" y="4445000"/>
            <a:ext cx="304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FFFFFF">
                    <a:alpha val="80000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去中心化网络架构示意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762000" y="5715000"/>
            <a:ext cx="1066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just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FFFFFF">
                    <a:alpha val="70196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“去中心化马赛克防御体系”不仅是军事战术的革新，更是伊朗应对现代高强度冲突的生存之道。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3954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B3954">
              <a:alpha val="9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508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体系核心：彻底的权限下放与自主决策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524000"/>
            <a:ext cx="5334000" cy="1143000"/>
          </a:xfrm>
          <a:prstGeom prst="roundRect">
            <a:avLst>
              <a:gd name="adj" fmla="val 11111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FFD700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16000" y="1714500"/>
            <a:ext cx="406400" cy="406400"/>
          </a:xfrm>
          <a:prstGeom prst="rect">
            <a:avLst/>
          </a:prstGeom>
        </p:spPr>
      </p:pic>
      <p:sp>
        <p:nvSpPr>
          <p:cNvPr name="AutoShape 7" id="7"/>
          <p:cNvSpPr/>
          <p:nvPr/>
        </p:nvSpPr>
        <p:spPr>
          <a:xfrm rot="0" flipH="false" flipV="false">
            <a:off x="1524000" y="1651000"/>
            <a:ext cx="431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FD700"/>
                </a:solidFill>
                <a:latin typeface="Roboto"/>
                <a:ea typeface="Roboto"/>
                <a:cs typeface="Roboto"/>
                <a:sym typeface="Roboto"/>
              </a:rPr>
              <a:t>全域分布式作战单元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524000" y="2032000"/>
            <a:ext cx="431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全国被划分为31个独立单元，各单元具备独立指挥、火力投射与后勤补给能力。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762000" y="2857500"/>
            <a:ext cx="5334000" cy="1143000"/>
          </a:xfrm>
          <a:prstGeom prst="roundRect">
            <a:avLst>
              <a:gd name="adj" fmla="val 11111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FFD700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1016000" y="3048000"/>
            <a:ext cx="406400" cy="406400"/>
          </a:xfrm>
          <a:prstGeom prst="rect">
            <a:avLst/>
          </a:prstGeom>
        </p:spPr>
      </p:pic>
      <p:sp>
        <p:nvSpPr>
          <p:cNvPr name="AutoShape 11" id="11"/>
          <p:cNvSpPr/>
          <p:nvPr/>
        </p:nvSpPr>
        <p:spPr>
          <a:xfrm rot="0" flipH="false" flipV="false">
            <a:off x="1524000" y="2984500"/>
            <a:ext cx="431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FD700"/>
                </a:solidFill>
                <a:latin typeface="Roboto"/>
                <a:ea typeface="Roboto"/>
                <a:cs typeface="Roboto"/>
                <a:sym typeface="Roboto"/>
              </a:rPr>
              <a:t>基层自主开火权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1524000" y="3365500"/>
            <a:ext cx="431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基层指挥官拥有完全的独立开火权，无需等待中央指令，大幅提升响应速度。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762000" y="4191000"/>
            <a:ext cx="5334000" cy="1143000"/>
          </a:xfrm>
          <a:prstGeom prst="roundRect">
            <a:avLst>
              <a:gd name="adj" fmla="val 11111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FFD700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1016000" y="4381500"/>
            <a:ext cx="406400" cy="406400"/>
          </a:xfrm>
          <a:prstGeom prst="rect">
            <a:avLst/>
          </a:prstGeom>
        </p:spPr>
      </p:pic>
      <p:sp>
        <p:nvSpPr>
          <p:cNvPr name="AutoShape 15" id="15"/>
          <p:cNvSpPr/>
          <p:nvPr/>
        </p:nvSpPr>
        <p:spPr>
          <a:xfrm rot="0" flipH="false" flipV="false">
            <a:off x="1524000" y="4318000"/>
            <a:ext cx="431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FD700"/>
                </a:solidFill>
                <a:latin typeface="Roboto"/>
                <a:ea typeface="Roboto"/>
                <a:cs typeface="Roboto"/>
                <a:sym typeface="Roboto"/>
              </a:rPr>
              <a:t>“失联即战”反击机制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1524000" y="4699000"/>
            <a:ext cx="431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预设自动反击预案，一旦与中央失去联系，各单元立即按预案自主发起攻击。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6604000" y="1524000"/>
            <a:ext cx="4572000" cy="3048000"/>
          </a:xfrm>
          <a:prstGeom prst="roundRect">
            <a:avLst>
              <a:gd name="adj" fmla="val 4166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50800" blurRad="127000" algn="tl" rotWithShape="false">
              <a:srgbClr val="000000">
                <a:alpha val="30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8" id="18"/>
          <p:cNvPicPr>
            <a:picLocks noChangeAspect="true"/>
          </p:cNvPicPr>
          <p:nvPr/>
        </p:nvPicPr>
        <p:blipFill>
          <a:blip r:embed="rId9"/>
          <a:srcRect l="0" r="0" t="97" b="97"/>
          <a:stretch>
            <a:fillRect/>
          </a:stretch>
        </p:blipFill>
        <p:spPr>
          <a:xfrm rot="0" flipH="false" flipV="false">
            <a:off x="6731000" y="1612900"/>
            <a:ext cx="4318000" cy="28702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19" id="19"/>
          <p:cNvSpPr/>
          <p:nvPr/>
        </p:nvSpPr>
        <p:spPr>
          <a:xfrm rot="0" flipH="false" flipV="false">
            <a:off x="6604000" y="4699000"/>
            <a:ext cx="4572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FFFFFF">
                    <a:alpha val="70196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图示：分布式指挥与网络拓扑示意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762000" y="5842000"/>
            <a:ext cx="10668000" cy="25400"/>
          </a:xfrm>
          <a:prstGeom prst="roundRect">
            <a:avLst>
              <a:gd name="adj" fmla="val 0"/>
            </a:avLst>
          </a:prstGeom>
          <a:gradFill rotWithShape="true">
            <a:gsLst>
              <a:gs pos="0">
                <a:srgbClr val="FFD700">
                  <a:alpha val="0"/>
                </a:srgbClr>
              </a:gs>
              <a:gs pos="50000">
                <a:srgbClr val="FFD700">
                  <a:alpha val="100000"/>
                </a:srgbClr>
              </a:gs>
              <a:gs pos="100000">
                <a:srgbClr val="FFD700">
                  <a:alpha val="0"/>
                </a:srgbClr>
              </a:gs>
            </a:gsLst>
            <a:lin ang="0"/>
          </a:gra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3954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B3954">
              <a:alpha val="9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508000"/>
            <a:ext cx="90551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多层级权力冗余：永远不会断的指挥链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206500"/>
            <a:ext cx="10668000" cy="25400"/>
          </a:xfrm>
          <a:prstGeom prst="roundRect">
            <a:avLst>
              <a:gd name="adj" fmla="val 0"/>
            </a:avLst>
          </a:prstGeom>
          <a:solidFill>
            <a:srgbClr val="FFD70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762000" y="1651000"/>
            <a:ext cx="304800" cy="304800"/>
          </a:xfrm>
          <a:prstGeom prst="rect">
            <a:avLst/>
          </a:prstGeom>
        </p:spPr>
      </p:pic>
      <p:sp>
        <p:nvSpPr>
          <p:cNvPr name="AutoShape 7" id="7"/>
          <p:cNvSpPr/>
          <p:nvPr/>
        </p:nvSpPr>
        <p:spPr>
          <a:xfrm rot="0" flipH="false" flipV="false">
            <a:off x="1193800" y="1587500"/>
            <a:ext cx="6604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继任者备份机制</a:t>
            </a:r>
            <a:r>
              <a:rPr lang="en-US" b="false" i="false" strike="noStrike" u="none" sz="1600">
                <a:solidFill>
                  <a:srgbClr val="1F2329"/>
                </a:solidFill>
                <a:latin typeface="Roboto"/>
                <a:ea typeface="Roboto"/>
                <a:cs typeface="Roboto"/>
                <a:sym typeface="Roboto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600">
                <a:solidFill>
                  <a:srgbClr val="FFFFFF">
                    <a:alpha val="80000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所有关键岗位均设置多名继任者，确保指挥链在任何情况下的连续性。</a:t>
            </a:r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762000" y="2540000"/>
            <a:ext cx="304800" cy="304800"/>
          </a:xfrm>
          <a:prstGeom prst="rect">
            <a:avLst/>
          </a:prstGeom>
        </p:spPr>
      </p:pic>
      <p:sp>
        <p:nvSpPr>
          <p:cNvPr name="AutoShape 9" id="9"/>
          <p:cNvSpPr/>
          <p:nvPr/>
        </p:nvSpPr>
        <p:spPr>
          <a:xfrm rot="0" flipH="false" flipV="false">
            <a:off x="1193800" y="2476500"/>
            <a:ext cx="6604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集体领导兜底</a:t>
            </a:r>
            <a:r>
              <a:rPr lang="en-US" b="false" i="false" strike="noStrike" u="none" sz="1600">
                <a:solidFill>
                  <a:srgbClr val="1F2329"/>
                </a:solidFill>
                <a:latin typeface="Roboto"/>
                <a:ea typeface="Roboto"/>
                <a:cs typeface="Roboto"/>
                <a:sym typeface="Roboto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600">
                <a:solidFill>
                  <a:srgbClr val="FFFFFF">
                    <a:alpha val="80000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建立集体领导机制作为最终保障，彻底避免权力真空的出现。</a:t>
            </a:r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8763000" y="1651000"/>
            <a:ext cx="2540000" cy="2540000"/>
          </a:xfrm>
          <a:prstGeom prst="roundRect">
            <a:avLst>
              <a:gd name="adj" fmla="val 5000"/>
            </a:avLst>
          </a:prstGeom>
          <a:solidFill>
            <a:srgbClr val="FFFFFF">
              <a:alpha val="10000"/>
            </a:srgbClr>
          </a:solidFill>
          <a:ln w="12700" cmpd="sng" cap="flat">
            <a:solidFill>
              <a:srgbClr val="FFD700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7"/>
          <a:srcRect l="0" r="0" t="0" b="0"/>
          <a:stretch>
            <a:fillRect/>
          </a:stretch>
        </p:blipFill>
        <p:spPr>
          <a:xfrm rot="0" flipH="false" flipV="false">
            <a:off x="9017000" y="1905000"/>
            <a:ext cx="2032000" cy="2032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12" id="12"/>
          <p:cNvSpPr/>
          <p:nvPr/>
        </p:nvSpPr>
        <p:spPr>
          <a:xfrm rot="0" flipH="false" flipV="false">
            <a:off x="8763000" y="4254500"/>
            <a:ext cx="254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FFD700"/>
                </a:solidFill>
                <a:latin typeface="Roboto"/>
                <a:ea typeface="Roboto"/>
                <a:cs typeface="Roboto"/>
                <a:sym typeface="Roboto"/>
              </a:rPr>
              <a:t>权力冗余与多重连接结构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762000" y="4953000"/>
            <a:ext cx="10668000" cy="1270000"/>
          </a:xfrm>
          <a:prstGeom prst="roundRect">
            <a:avLst>
              <a:gd name="adj" fmla="val 10000"/>
            </a:avLst>
          </a:prstGeom>
          <a:solidFill>
            <a:srgbClr val="FFD700">
              <a:alpha val="10000"/>
            </a:srgbClr>
          </a:solidFill>
          <a:ln w="12700" cmpd="sng" cap="flat">
            <a:solidFill>
              <a:srgbClr val="FFD700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1016000" y="5384800"/>
            <a:ext cx="406400" cy="406400"/>
          </a:xfrm>
          <a:prstGeom prst="rect">
            <a:avLst/>
          </a:prstGeom>
        </p:spPr>
      </p:pic>
      <p:sp>
        <p:nvSpPr>
          <p:cNvPr name="AutoShape 15" id="15"/>
          <p:cNvSpPr/>
          <p:nvPr/>
        </p:nvSpPr>
        <p:spPr>
          <a:xfrm rot="0" flipH="false" flipV="false">
            <a:off x="1524000" y="5080000"/>
            <a:ext cx="9652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FD700"/>
                </a:solidFill>
                <a:latin typeface="Roboto"/>
                <a:ea typeface="Roboto"/>
                <a:cs typeface="Roboto"/>
                <a:sym typeface="Roboto"/>
              </a:rPr>
              <a:t>核心结论：</a:t>
            </a:r>
            <a:r>
              <a:rPr lang="en-US" b="false" i="false" strike="noStrike" u="none" sz="1600">
                <a:solidFill>
                  <a:srgbClr val="1F2329"/>
                </a:solidFill>
                <a:latin typeface="Roboto"/>
                <a:ea typeface="Roboto"/>
                <a:cs typeface="Roboto"/>
                <a:sym typeface="Roboto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对于现在的伊朗而言，一个坐镇首都、发号施令的最高领袖，已经不再是必需的。整个体系已具备自我运行和修复的能力。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3954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B3954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0" y="1397000"/>
            <a:ext cx="12192000" cy="152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9600">
                <a:solidFill>
                  <a:srgbClr val="FFD700"/>
                </a:solidFill>
                <a:latin typeface="Noto Sans SC"/>
                <a:ea typeface="Noto Sans SC"/>
                <a:cs typeface="Noto Sans SC"/>
                <a:sym typeface="Noto Sans SC"/>
              </a:rPr>
              <a:t>04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5715000" y="3048000"/>
            <a:ext cx="762000" cy="50800"/>
          </a:xfrm>
          <a:prstGeom prst="roundRect">
            <a:avLst>
              <a:gd name="adj" fmla="val 0"/>
            </a:avLst>
          </a:prstGeom>
          <a:solidFill>
            <a:srgbClr val="FFD70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635000" y="3429000"/>
            <a:ext cx="10922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戳中命门：商人总统最怕没有交易对手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0" y="4191000"/>
            <a:ext cx="12192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FFFFFF">
                    <a:alpha val="6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CHAPTER TRANSITION</a:t>
            </a:r>
            <a:endParaRPr lang="en-US" sz="1100"/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3954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B3954">
              <a:alpha val="9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508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特朗普的商人逻辑：极限施压后的“伟大交易”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206500"/>
            <a:ext cx="10668000" cy="50800"/>
          </a:xfrm>
          <a:prstGeom prst="roundRect">
            <a:avLst>
              <a:gd name="adj" fmla="val 0"/>
            </a:avLst>
          </a:prstGeom>
          <a:solidFill>
            <a:srgbClr val="FFD70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762000" y="1524000"/>
            <a:ext cx="5842000" cy="228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16666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特朗普的执政逻辑是典型的商人思维：先通过极限施压（制裁、空袭）将对手逼到绝境，然后迫使对方回到谈判桌，最终达成一份可以炫耀的“伟大交易”。</a:t>
            </a:r>
            <a:r>
              <a:rPr lang="en-US" b="false" i="false" strike="noStrike" u="none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/>
            </a:r>
            <a:endParaRPr lang="en-US" sz="1100"/>
          </a:p>
          <a:p>
            <a:pPr algn="l" indent="0">
              <a:lnSpc>
                <a:spcPct val="116666"/>
              </a:lnSpc>
            </a:pPr>
            <a:r>
              <a:rPr lang="en-US" b="false" i="false" strike="noStrike" u="none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b="false" i="false" strike="noStrike" u="none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/>
            </a:r>
          </a:p>
          <a:p>
            <a:pPr algn="l" indent="0">
              <a:lnSpc>
                <a:spcPct val="116666"/>
              </a:lnSpc>
            </a:pPr>
            <a:r>
              <a:rPr lang="en-US" b="false" i="false" strike="noStrike" u="none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他擅长的是谈判，需要一个明确的、可以讨价还价的对手，而非模糊的战略对抗。</a:t>
            </a:r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3"/>
          <a:srcRect l="0" r="0" t="24" b="24"/>
          <a:stretch>
            <a:fillRect/>
          </a:stretch>
        </p:blipFill>
        <p:spPr>
          <a:xfrm rot="0" flipH="false" flipV="false">
            <a:off x="7366000" y="1524000"/>
            <a:ext cx="3429000" cy="2286000"/>
          </a:xfrm>
          <a:prstGeom prst="roundRect">
            <a:avLst>
              <a:gd name="adj" fmla="val 8333"/>
            </a:avLst>
          </a:prstGeom>
          <a:noFill/>
          <a:ln w="25400" cmpd="sng" cap="flat">
            <a:solidFill>
              <a:srgbClr val="FFD700">
                <a:alpha val="100000"/>
              </a:srgbClr>
            </a:solidFill>
            <a:prstDash val="solid"/>
            <a:round/>
          </a:ln>
          <a:effectLst>
            <a:outerShdw dir="2700000" dist="63500" blurRad="127000" algn="tl" rotWithShape="false">
              <a:srgbClr val="000000">
                <a:alpha val="50000"/>
              </a:srgbClr>
            </a:outerShdw>
          </a:effectLst>
        </p:spPr>
      </p:pic>
      <p:sp>
        <p:nvSpPr>
          <p:cNvPr name="AutoShape 8" id="8"/>
          <p:cNvSpPr/>
          <p:nvPr/>
        </p:nvSpPr>
        <p:spPr>
          <a:xfrm rot="0" flipH="false" flipV="false">
            <a:off x="762000" y="4191000"/>
            <a:ext cx="10668000" cy="1016000"/>
          </a:xfrm>
          <a:prstGeom prst="roundRect">
            <a:avLst>
              <a:gd name="adj" fmla="val 12500"/>
            </a:avLst>
          </a:prstGeom>
          <a:solidFill>
            <a:srgbClr val="FFFFFF">
              <a:alpha val="10000"/>
            </a:srgbClr>
          </a:solidFill>
          <a:ln w="12700" cmpd="sng" cap="flat">
            <a:solidFill>
              <a:srgbClr val="FFD700">
                <a:alpha val="5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1143000" y="4495800"/>
            <a:ext cx="406400" cy="406400"/>
          </a:xfrm>
          <a:prstGeom prst="rect">
            <a:avLst/>
          </a:prstGeom>
        </p:spPr>
      </p:pic>
      <p:sp>
        <p:nvSpPr>
          <p:cNvPr name="AutoShape 10" id="10"/>
          <p:cNvSpPr/>
          <p:nvPr/>
        </p:nvSpPr>
        <p:spPr>
          <a:xfrm rot="0" flipH="false" flipV="false">
            <a:off x="1651000" y="4508500"/>
            <a:ext cx="2032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极限施压</a:t>
            </a:r>
            <a:endParaRPr lang="en-US" sz="1100"/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3810000" y="4546600"/>
            <a:ext cx="304800" cy="3048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4318000" y="4495800"/>
            <a:ext cx="406400" cy="406400"/>
          </a:xfrm>
          <a:prstGeom prst="rect">
            <a:avLst/>
          </a:prstGeom>
        </p:spPr>
      </p:pic>
      <p:sp>
        <p:nvSpPr>
          <p:cNvPr name="AutoShape 13" id="13"/>
          <p:cNvSpPr/>
          <p:nvPr/>
        </p:nvSpPr>
        <p:spPr>
          <a:xfrm rot="0" flipH="false" flipV="false">
            <a:off x="4826000" y="4508500"/>
            <a:ext cx="2032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回到谈判桌</a:t>
            </a:r>
            <a:endParaRPr lang="en-US" sz="1100"/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6985000" y="4546600"/>
            <a:ext cx="304800" cy="3048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0" flipH="false" flipV="false">
            <a:off x="7493000" y="4495800"/>
            <a:ext cx="406400" cy="406400"/>
          </a:xfrm>
          <a:prstGeom prst="rect">
            <a:avLst/>
          </a:prstGeom>
        </p:spPr>
      </p:pic>
      <p:sp>
        <p:nvSpPr>
          <p:cNvPr name="AutoShape 16" id="16"/>
          <p:cNvSpPr/>
          <p:nvPr/>
        </p:nvSpPr>
        <p:spPr>
          <a:xfrm rot="0" flipH="false" flipV="false">
            <a:off x="8001000" y="4508500"/>
            <a:ext cx="2032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达成“伟大交易”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762000" y="5461000"/>
            <a:ext cx="1066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true" strike="noStrike" u="none" sz="1600">
                <a:solidFill>
                  <a:srgbClr val="FFFFFF">
                    <a:alpha val="70196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“他不是在发动战争，而是在进行一场永无止境的商业谈判。”</a:t>
            </a:r>
            <a:endParaRPr lang="en-US" sz="1100"/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3954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B3954">
              <a:alpha val="9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508000"/>
            <a:ext cx="90551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伊朗的策略：拖到特朗普访华的“死线”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206500"/>
            <a:ext cx="762000" cy="50800"/>
          </a:xfrm>
          <a:prstGeom prst="roundRect">
            <a:avLst>
              <a:gd name="adj" fmla="val 0"/>
            </a:avLst>
          </a:prstGeom>
          <a:solidFill>
            <a:srgbClr val="FFD70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762000" y="1651000"/>
            <a:ext cx="304800" cy="304800"/>
          </a:xfrm>
          <a:prstGeom prst="rect">
            <a:avLst/>
          </a:prstGeom>
        </p:spPr>
      </p:pic>
      <p:sp>
        <p:nvSpPr>
          <p:cNvPr name="AutoShape 7" id="7"/>
          <p:cNvSpPr/>
          <p:nvPr/>
        </p:nvSpPr>
        <p:spPr>
          <a:xfrm rot="0" flipH="false" flipV="false">
            <a:off x="1143000" y="1587500"/>
            <a:ext cx="6096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强硬“拖”字诀：</a:t>
            </a:r>
            <a:r>
              <a:rPr lang="en-US" b="false" i="false" strike="noStrike" u="none" sz="1800">
                <a:solidFill>
                  <a:srgbClr val="FFFFFF">
                    <a:alpha val="90196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伊朗看穿局势，选择不回应、不谈判，以持续不断的反击消耗对手耐心。</a:t>
            </a:r>
            <a:endParaRPr lang="en-US" sz="1100"/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762000" y="2540000"/>
            <a:ext cx="304800" cy="304800"/>
          </a:xfrm>
          <a:prstGeom prst="rect">
            <a:avLst/>
          </a:prstGeom>
        </p:spPr>
      </p:pic>
      <p:sp>
        <p:nvSpPr>
          <p:cNvPr name="AutoShape 9" id="9"/>
          <p:cNvSpPr/>
          <p:nvPr/>
        </p:nvSpPr>
        <p:spPr>
          <a:xfrm rot="0" flipH="false" flipV="false">
            <a:off x="1143000" y="2476500"/>
            <a:ext cx="6096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关键政治日程：</a:t>
            </a:r>
            <a:r>
              <a:rPr lang="en-US" b="false" i="false" strike="noStrike" u="none" sz="1800">
                <a:solidFill>
                  <a:srgbClr val="FFFFFF">
                    <a:alpha val="90196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特朗普计划3月底访华，这一既定行程成为了其处理伊朗问题的时间紧箍咒。</a:t>
            </a:r>
            <a:endParaRPr lang="en-US" sz="1100"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762000" y="3429000"/>
            <a:ext cx="304800" cy="304800"/>
          </a:xfrm>
          <a:prstGeom prst="rect">
            <a:avLst/>
          </a:prstGeom>
        </p:spPr>
      </p:pic>
      <p:sp>
        <p:nvSpPr>
          <p:cNvPr name="AutoShape 11" id="11"/>
          <p:cNvSpPr/>
          <p:nvPr/>
        </p:nvSpPr>
        <p:spPr>
          <a:xfrm rot="0" flipH="false" flipV="false">
            <a:off x="1143000" y="3365500"/>
            <a:ext cx="6096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被动的外交斡旋：</a:t>
            </a:r>
            <a:r>
              <a:rPr lang="en-US" b="false" i="false" strike="noStrike" u="none" sz="1800">
                <a:solidFill>
                  <a:srgbClr val="FFFFFF">
                    <a:alpha val="90196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若战争在访华前无法结束，特朗普将陷入被动，可能被迫让步换取中方斡旋。</a:t>
            </a:r>
            <a:endParaRPr lang="en-US" sz="1100"/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762000" y="4318000"/>
            <a:ext cx="304800" cy="304800"/>
          </a:xfrm>
          <a:prstGeom prst="rect">
            <a:avLst/>
          </a:prstGeom>
        </p:spPr>
      </p:pic>
      <p:sp>
        <p:nvSpPr>
          <p:cNvPr name="AutoShape 13" id="13"/>
          <p:cNvSpPr/>
          <p:nvPr/>
        </p:nvSpPr>
        <p:spPr>
          <a:xfrm rot="0" flipH="false" flipV="false">
            <a:off x="1143000" y="4254500"/>
            <a:ext cx="6096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两难抉择：</a:t>
            </a:r>
            <a:r>
              <a:rPr lang="en-US" b="false" i="false" strike="noStrike" u="none" sz="1800">
                <a:solidFill>
                  <a:srgbClr val="FFFFFF">
                    <a:alpha val="90196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留给特朗普的选择只有两个：要么现在止损，要么在全世界面前因日程冲突而丢脸。</a:t>
            </a:r>
            <a:endParaRPr lang="en-US" sz="1100"/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11"/>
          <a:srcRect l="698" r="698" t="0" b="0"/>
          <a:stretch>
            <a:fillRect/>
          </a:stretch>
        </p:blipFill>
        <p:spPr>
          <a:xfrm rot="0" flipH="false" flipV="false">
            <a:off x="8890000" y="1651000"/>
            <a:ext cx="1993900" cy="2794000"/>
          </a:xfrm>
          <a:prstGeom prst="roundRect">
            <a:avLst>
              <a:gd name="adj" fmla="val 6369"/>
            </a:avLst>
          </a:prstGeom>
          <a:noFill/>
          <a:ln w="12700" cmpd="sng" cap="flat">
            <a:solidFill>
              <a:srgbClr val="FFD700">
                <a:alpha val="30000"/>
              </a:srgbClr>
            </a:solidFill>
            <a:prstDash val="solid"/>
            <a:round/>
          </a:ln>
          <a:effectLst>
            <a:outerShdw dir="2700000" dist="63500" blurRad="127000" algn="tl" rotWithShape="false">
              <a:srgbClr val="000000">
                <a:alpha val="50000"/>
              </a:srgbClr>
            </a:outerShdw>
          </a:effectLst>
        </p:spPr>
      </p:pic>
      <p:sp>
        <p:nvSpPr>
          <p:cNvPr name="AutoShape 15" id="15"/>
          <p:cNvSpPr/>
          <p:nvPr/>
        </p:nvSpPr>
        <p:spPr>
          <a:xfrm rot="0" flipH="false" flipV="false">
            <a:off x="8890000" y="4572000"/>
            <a:ext cx="19939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FFD700">
                    <a:alpha val="80000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时间紧迫：特朗普的“死线”</a:t>
            </a:r>
            <a:endParaRPr lang="en-US" sz="1100"/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3954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B3954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0" y="1651000"/>
            <a:ext cx="12192000" cy="152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9600">
                <a:solidFill>
                  <a:srgbClr val="FFD700"/>
                </a:solidFill>
                <a:latin typeface="Noto Sans SC"/>
                <a:ea typeface="Noto Sans SC"/>
                <a:cs typeface="Noto Sans SC"/>
                <a:sym typeface="Noto Sans SC"/>
              </a:rPr>
              <a:t>05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5715000" y="3302000"/>
            <a:ext cx="762000" cy="50800"/>
          </a:xfrm>
          <a:prstGeom prst="roundRect">
            <a:avLst>
              <a:gd name="adj" fmla="val 0"/>
            </a:avLst>
          </a:prstGeom>
          <a:solidFill>
            <a:srgbClr val="FFD70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635000" y="3556000"/>
            <a:ext cx="10922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终局：斩首战术的战略崩盘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0" y="5715000"/>
            <a:ext cx="12192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400" spc="200">
                <a:solidFill>
                  <a:srgbClr val="FFFFFF">
                    <a:alpha val="6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STRATEGIC ANALYSIS REPORT</a:t>
            </a:r>
            <a:endParaRPr lang="en-US" sz="1100"/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3954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B3954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508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美以的致命误判：从“毕其功于一役”到养出“九头蛇”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206500"/>
            <a:ext cx="10668000" cy="50800"/>
          </a:xfrm>
          <a:prstGeom prst="roundRect">
            <a:avLst>
              <a:gd name="adj" fmla="val 0"/>
            </a:avLst>
          </a:prstGeom>
          <a:solidFill>
            <a:srgbClr val="FFD70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762000" y="1651000"/>
            <a:ext cx="406400" cy="406400"/>
          </a:xfrm>
          <a:prstGeom prst="rect">
            <a:avLst/>
          </a:prstGeom>
        </p:spPr>
      </p:pic>
      <p:sp>
        <p:nvSpPr>
          <p:cNvPr name="AutoShape 7" id="7"/>
          <p:cNvSpPr/>
          <p:nvPr/>
        </p:nvSpPr>
        <p:spPr>
          <a:xfrm rot="0" flipH="false" flipV="false">
            <a:off x="1270000" y="1600200"/>
            <a:ext cx="609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FD700"/>
                </a:solidFill>
                <a:latin typeface="Roboto"/>
                <a:ea typeface="Roboto"/>
                <a:cs typeface="Roboto"/>
                <a:sym typeface="Roboto"/>
              </a:rPr>
              <a:t>误判抵抗意志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270000" y="1981200"/>
            <a:ext cx="6096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美以低估了伊朗的战争准备，天真地认为通过斩首领袖就能瓦解整个国家的抵抗体系。</a:t>
            </a:r>
            <a:endParaRPr lang="en-US" sz="1100"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762000" y="2921000"/>
            <a:ext cx="406400" cy="406400"/>
          </a:xfrm>
          <a:prstGeom prst="rect">
            <a:avLst/>
          </a:prstGeom>
        </p:spPr>
      </p:pic>
      <p:sp>
        <p:nvSpPr>
          <p:cNvPr name="AutoShape 10" id="10"/>
          <p:cNvSpPr/>
          <p:nvPr/>
        </p:nvSpPr>
        <p:spPr>
          <a:xfrm rot="0" flipH="false" flipV="false">
            <a:off x="1270000" y="2870200"/>
            <a:ext cx="609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FD700"/>
                </a:solidFill>
                <a:latin typeface="Roboto"/>
                <a:ea typeface="Roboto"/>
                <a:cs typeface="Roboto"/>
                <a:sym typeface="Roboto"/>
              </a:rPr>
              <a:t>去中心化的“九头蛇”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1270000" y="3251200"/>
            <a:ext cx="6096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伊朗早已构建了去中心化的军事网络，如同神话中的九头蛇——砍掉一个头，反而会激发更多节点的抵抗力量。</a:t>
            </a:r>
            <a:endParaRPr lang="en-US" sz="1100"/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762000" y="4191000"/>
            <a:ext cx="406400" cy="406400"/>
          </a:xfrm>
          <a:prstGeom prst="rect">
            <a:avLst/>
          </a:prstGeom>
        </p:spPr>
      </p:pic>
      <p:sp>
        <p:nvSpPr>
          <p:cNvPr name="AutoShape 13" id="13"/>
          <p:cNvSpPr/>
          <p:nvPr/>
        </p:nvSpPr>
        <p:spPr>
          <a:xfrm rot="0" flipH="false" flipV="false">
            <a:off x="1270000" y="4140200"/>
            <a:ext cx="609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FD700"/>
                </a:solidFill>
                <a:latin typeface="Roboto"/>
                <a:ea typeface="Roboto"/>
                <a:cs typeface="Roboto"/>
                <a:sym typeface="Roboto"/>
              </a:rPr>
              <a:t>反作用力加剧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1270000" y="4521200"/>
            <a:ext cx="6096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斩首行动不仅没有削弱伊朗，反而促使其内部更加团结，让整个体系变得更加坚韧和难以对付。</a:t>
            </a:r>
            <a:endParaRPr lang="en-US" sz="1100"/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9"/>
          <a:srcRect l="215" r="215" t="0" b="0"/>
          <a:stretch>
            <a:fillRect/>
          </a:stretch>
        </p:blipFill>
        <p:spPr>
          <a:xfrm rot="0" flipH="false" flipV="false">
            <a:off x="8636000" y="1651000"/>
            <a:ext cx="2146300" cy="3048000"/>
          </a:xfrm>
          <a:prstGeom prst="roundRect">
            <a:avLst>
              <a:gd name="adj" fmla="val 5917"/>
            </a:avLst>
          </a:prstGeom>
          <a:noFill/>
          <a:ln w="25400" cmpd="sng" cap="flat">
            <a:solidFill>
              <a:srgbClr val="FFD700">
                <a:alpha val="100000"/>
              </a:srgbClr>
            </a:solidFill>
            <a:prstDash val="solid"/>
            <a:round/>
          </a:ln>
          <a:effectLst>
            <a:outerShdw dir="2700000" dist="127000" blurRad="254000" algn="tl" rotWithShape="false">
              <a:srgbClr val="000000">
                <a:alpha val="50000"/>
              </a:srgbClr>
            </a:outerShdw>
          </a:effectLst>
        </p:spPr>
      </p:pic>
      <p:sp>
        <p:nvSpPr>
          <p:cNvPr name="AutoShape 16" id="16"/>
          <p:cNvSpPr/>
          <p:nvPr/>
        </p:nvSpPr>
        <p:spPr>
          <a:xfrm rot="0" flipH="false" flipV="false">
            <a:off x="8636000" y="4826000"/>
            <a:ext cx="21463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FFFFFF">
                    <a:alpha val="70196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象征顽强抵抗的“九头蛇”体系</a:t>
            </a:r>
            <a:endParaRPr lang="en-US" sz="1100"/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3954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B3954">
              <a:alpha val="9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508000"/>
            <a:ext cx="105664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“隐身执政”的本质：一场最高级的战略反杀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270000"/>
            <a:ext cx="10668000" cy="25400"/>
          </a:xfrm>
          <a:prstGeom prst="roundRect">
            <a:avLst>
              <a:gd name="adj" fmla="val 0"/>
            </a:avLst>
          </a:prstGeom>
          <a:solidFill>
            <a:srgbClr val="FFD70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762000" y="1778000"/>
            <a:ext cx="304800" cy="304800"/>
          </a:xfrm>
          <a:prstGeom prst="rect">
            <a:avLst/>
          </a:prstGeom>
        </p:spPr>
      </p:pic>
      <p:sp>
        <p:nvSpPr>
          <p:cNvPr name="AutoShape 7" id="7"/>
          <p:cNvSpPr/>
          <p:nvPr/>
        </p:nvSpPr>
        <p:spPr>
          <a:xfrm rot="0" flipH="false" flipV="false">
            <a:off x="1143000" y="1714500"/>
            <a:ext cx="685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精心策划的战略选择</a:t>
            </a:r>
            <a:r>
              <a:rPr lang="en-US" b="false" i="false" strike="noStrike" u="none" sz="1800">
                <a:solidFill>
                  <a:srgbClr val="1F2329"/>
                </a:solidFill>
                <a:latin typeface="Roboto"/>
                <a:ea typeface="Roboto"/>
                <a:cs typeface="Roboto"/>
                <a:sym typeface="Roboto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800">
                <a:solidFill>
                  <a:srgbClr val="FFFFFF">
                    <a:alpha val="90196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穆杰塔巴的“隐身”绝非懦弱，而是一场经过精密计算的战略反杀，旨在打乱对手节奏。</a:t>
            </a:r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762000" y="2667000"/>
            <a:ext cx="304800" cy="304800"/>
          </a:xfrm>
          <a:prstGeom prst="rect">
            <a:avLst/>
          </a:prstGeom>
        </p:spPr>
      </p:pic>
      <p:sp>
        <p:nvSpPr>
          <p:cNvPr name="AutoShape 9" id="9"/>
          <p:cNvSpPr/>
          <p:nvPr/>
        </p:nvSpPr>
        <p:spPr>
          <a:xfrm rot="0" flipH="false" flipV="false">
            <a:off x="1143000" y="2603500"/>
            <a:ext cx="685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让斩首战术彻底失效</a:t>
            </a:r>
            <a:r>
              <a:rPr lang="en-US" b="false" i="false" strike="noStrike" u="none" sz="1800">
                <a:solidFill>
                  <a:srgbClr val="1F2329"/>
                </a:solidFill>
                <a:latin typeface="Roboto"/>
                <a:ea typeface="Roboto"/>
                <a:cs typeface="Roboto"/>
                <a:sym typeface="Roboto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800">
                <a:solidFill>
                  <a:srgbClr val="FFFFFF">
                    <a:alpha val="90196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通过“消失”，让美以情报系统无法锁定具体目标，使其精心准备的斩首行动失去着力点。</a:t>
            </a:r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762000" y="3556000"/>
            <a:ext cx="304800" cy="304800"/>
          </a:xfrm>
          <a:prstGeom prst="rect">
            <a:avLst/>
          </a:prstGeom>
        </p:spPr>
      </p:pic>
      <p:sp>
        <p:nvSpPr>
          <p:cNvPr name="AutoShape 11" id="11"/>
          <p:cNvSpPr/>
          <p:nvPr/>
        </p:nvSpPr>
        <p:spPr>
          <a:xfrm rot="0" flipH="false" flipV="false">
            <a:off x="1143000" y="3492500"/>
            <a:ext cx="685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塑造不可战胜的整体</a:t>
            </a:r>
            <a:r>
              <a:rPr lang="en-US" b="false" i="false" strike="noStrike" u="none" sz="1800">
                <a:solidFill>
                  <a:srgbClr val="1F2329"/>
                </a:solidFill>
                <a:latin typeface="Roboto"/>
                <a:ea typeface="Roboto"/>
                <a:cs typeface="Roboto"/>
                <a:sym typeface="Roboto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800">
                <a:solidFill>
                  <a:srgbClr val="FFFFFF">
                    <a:alpha val="90196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以个人的“隐身”凝聚整个伊朗的力量，将国家塑造成一个没有单点破绽的强大对手。</a:t>
            </a:r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762000" y="4445000"/>
            <a:ext cx="304800" cy="304800"/>
          </a:xfrm>
          <a:prstGeom prst="rect">
            <a:avLst/>
          </a:prstGeom>
        </p:spPr>
      </p:pic>
      <p:sp>
        <p:nvSpPr>
          <p:cNvPr name="AutoShape 13" id="13"/>
          <p:cNvSpPr/>
          <p:nvPr/>
        </p:nvSpPr>
        <p:spPr>
          <a:xfrm rot="0" flipH="false" flipV="false">
            <a:off x="1143000" y="4381500"/>
            <a:ext cx="685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伺机而动的决定性时刻</a:t>
            </a:r>
            <a:r>
              <a:rPr lang="en-US" b="false" i="false" strike="noStrike" u="none" sz="1800">
                <a:solidFill>
                  <a:srgbClr val="1F2329"/>
                </a:solidFill>
                <a:latin typeface="Roboto"/>
                <a:ea typeface="Roboto"/>
                <a:cs typeface="Roboto"/>
                <a:sym typeface="Roboto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800">
                <a:solidFill>
                  <a:srgbClr val="FFFFFF">
                    <a:alpha val="90196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当前的蛰伏是为了等待最佳时机，当复仇与胜利的条件成熟时，他将以更强的姿态现身。</a:t>
            </a:r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11"/>
          <a:srcRect l="0" r="0" t="0" b="0"/>
          <a:stretch>
            <a:fillRect/>
          </a:stretch>
        </p:blipFill>
        <p:spPr>
          <a:xfrm rot="0" flipH="false" flipV="false">
            <a:off x="8382000" y="1778000"/>
            <a:ext cx="3048000" cy="1714500"/>
          </a:xfrm>
          <a:prstGeom prst="roundRect">
            <a:avLst>
              <a:gd name="adj" fmla="val 7407"/>
            </a:avLst>
          </a:prstGeom>
          <a:noFill/>
          <a:ln w="12700" cmpd="sng" cap="flat">
            <a:solidFill>
              <a:srgbClr val="FFD700">
                <a:alpha val="50000"/>
              </a:srgbClr>
            </a:solidFill>
            <a:prstDash val="solid"/>
            <a:round/>
          </a:ln>
          <a:effectLst>
            <a:outerShdw dir="2700000" dist="63500" blurRad="127000" algn="tl" rotWithShape="false">
              <a:srgbClr val="000000">
                <a:alpha val="50000"/>
              </a:srgbClr>
            </a:outerShdw>
          </a:effectLst>
        </p:spPr>
      </p:pic>
      <p:sp>
        <p:nvSpPr>
          <p:cNvPr name="AutoShape 15" id="15"/>
          <p:cNvSpPr/>
          <p:nvPr/>
        </p:nvSpPr>
        <p:spPr>
          <a:xfrm rot="0" flipH="false" flipV="false">
            <a:off x="8382000" y="3619500"/>
            <a:ext cx="304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FFD700">
                    <a:alpha val="80000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幕后掌控：战略反杀的隐喻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762000" y="5588000"/>
            <a:ext cx="10668000" cy="508000"/>
          </a:xfrm>
          <a:prstGeom prst="roundRect">
            <a:avLst>
              <a:gd name="adj" fmla="val 25000"/>
            </a:avLst>
          </a:prstGeom>
          <a:solidFill>
            <a:srgbClr val="FFFFFF">
              <a:alpha val="10000"/>
            </a:srgbClr>
          </a:solidFill>
          <a:ln w="12700" cmpd="sng" cap="flat">
            <a:solidFill>
              <a:srgbClr val="FFFFFF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889000" y="5689600"/>
            <a:ext cx="10414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“最高级的战略，是让对手在看不见的战场中彻底迷失。”</a:t>
            </a:r>
            <a:endParaRPr lang="en-US" sz="1100"/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3954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B3954">
              <a:alpha val="92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508000"/>
            <a:ext cx="75438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总结：斩首战术的终局是战略崩盘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206500"/>
            <a:ext cx="762000" cy="50800"/>
          </a:xfrm>
          <a:prstGeom prst="roundRect">
            <a:avLst>
              <a:gd name="adj" fmla="val 0"/>
            </a:avLst>
          </a:prstGeom>
          <a:solidFill>
            <a:srgbClr val="FFD70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3"/>
          <a:srcRect l="0" r="0" t="0" b="0"/>
          <a:stretch>
            <a:fillRect/>
          </a:stretch>
        </p:blipFill>
        <p:spPr>
          <a:xfrm rot="0" flipH="false" flipV="false">
            <a:off x="8382000" y="1651000"/>
            <a:ext cx="3048000" cy="1714500"/>
          </a:xfrm>
          <a:prstGeom prst="roundRect">
            <a:avLst>
              <a:gd name="adj" fmla="val 7407"/>
            </a:avLst>
          </a:prstGeom>
          <a:noFill/>
          <a:ln w="12700" cmpd="sng" cap="flat">
            <a:solidFill>
              <a:srgbClr val="FFFFFF">
                <a:alpha val="20000"/>
              </a:srgbClr>
            </a:solidFill>
            <a:prstDash val="solid"/>
            <a:round/>
          </a:ln>
          <a:effectLst>
            <a:outerShdw dir="2700000" dist="63500" blurRad="127000" algn="tl" rotWithShape="false">
              <a:srgbClr val="000000">
                <a:alpha val="30000"/>
              </a:srgbClr>
            </a:outerShdw>
          </a:effectLst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762000" y="1651000"/>
            <a:ext cx="304800" cy="304800"/>
          </a:xfrm>
          <a:prstGeom prst="rect">
            <a:avLst/>
          </a:prstGeom>
        </p:spPr>
      </p:pic>
      <p:sp>
        <p:nvSpPr>
          <p:cNvPr name="AutoShape 8" id="8"/>
          <p:cNvSpPr/>
          <p:nvPr/>
        </p:nvSpPr>
        <p:spPr>
          <a:xfrm rot="0" flipH="false" flipV="false">
            <a:off x="1143000" y="1587500"/>
            <a:ext cx="7112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战术反杀：</a:t>
            </a:r>
            <a:r>
              <a:rPr lang="en-US" b="false" i="false" strike="noStrike" u="none" sz="1800">
                <a:solidFill>
                  <a:srgbClr val="FFFFFF">
                    <a:alpha val="90196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美以的斩首行动不仅未能瓦解伊朗，反而促使其激活了更高级的</a:t>
            </a:r>
            <a:r>
              <a:rPr lang="en-US" b="true" i="false" strike="noStrike" u="none" sz="1800">
                <a:solidFill>
                  <a:srgbClr val="FFD700"/>
                </a:solidFill>
                <a:latin typeface="Roboto"/>
                <a:ea typeface="Roboto"/>
                <a:cs typeface="Roboto"/>
                <a:sym typeface="Roboto"/>
              </a:rPr>
              <a:t>“无头模式”</a:t>
            </a:r>
            <a:r>
              <a:rPr lang="en-US" b="false" i="false" strike="noStrike" u="none" sz="1800">
                <a:solidFill>
                  <a:srgbClr val="FFFFFF">
                    <a:alpha val="90196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。</a:t>
            </a:r>
            <a:endParaRPr lang="en-US" sz="1100"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762000" y="2476500"/>
            <a:ext cx="304800" cy="304800"/>
          </a:xfrm>
          <a:prstGeom prst="rect">
            <a:avLst/>
          </a:prstGeom>
        </p:spPr>
      </p:pic>
      <p:sp>
        <p:nvSpPr>
          <p:cNvPr name="AutoShape 10" id="10"/>
          <p:cNvSpPr/>
          <p:nvPr/>
        </p:nvSpPr>
        <p:spPr>
          <a:xfrm rot="0" flipH="false" flipV="false">
            <a:off x="1143000" y="2413000"/>
            <a:ext cx="7112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体系颠覆：</a:t>
            </a:r>
            <a:r>
              <a:rPr lang="en-US" b="false" i="false" strike="noStrike" u="none" sz="1800">
                <a:solidFill>
                  <a:srgbClr val="FFFFFF">
                    <a:alpha val="90196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去中心化的防御体系，彻底颠覆了传统战争中</a:t>
            </a:r>
            <a:r>
              <a:rPr lang="en-US" b="true" i="false" strike="noStrike" u="none" sz="1800">
                <a:solidFill>
                  <a:srgbClr val="FFD700"/>
                </a:solidFill>
                <a:latin typeface="Roboto"/>
                <a:ea typeface="Roboto"/>
                <a:cs typeface="Roboto"/>
                <a:sym typeface="Roboto"/>
              </a:rPr>
              <a:t>“擒贼先擒王”</a:t>
            </a:r>
            <a:r>
              <a:rPr lang="en-US" b="false" i="false" strike="noStrike" u="none" sz="1800">
                <a:solidFill>
                  <a:srgbClr val="FFFFFF">
                    <a:alpha val="90196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的固有逻辑。</a:t>
            </a:r>
            <a:endParaRPr lang="en-US" sz="1100"/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762000" y="3302000"/>
            <a:ext cx="304800" cy="304800"/>
          </a:xfrm>
          <a:prstGeom prst="rect">
            <a:avLst/>
          </a:prstGeom>
        </p:spPr>
      </p:pic>
      <p:sp>
        <p:nvSpPr>
          <p:cNvPr name="AutoShape 12" id="12"/>
          <p:cNvSpPr/>
          <p:nvPr/>
        </p:nvSpPr>
        <p:spPr>
          <a:xfrm rot="0" flipH="false" flipV="false">
            <a:off x="1143000" y="3238500"/>
            <a:ext cx="7112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精准打击：</a:t>
            </a:r>
            <a:r>
              <a:rPr lang="en-US" b="false" i="false" strike="noStrike" u="none" sz="1800">
                <a:solidFill>
                  <a:srgbClr val="FFFFFF">
                    <a:alpha val="90196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穆杰塔巴的“隐身”策略，精准打击了特朗普的商人软肋，使其陷入巨大的</a:t>
            </a:r>
            <a:r>
              <a:rPr lang="en-US" b="true" i="false" strike="noStrike" u="none" sz="1800">
                <a:solidFill>
                  <a:srgbClr val="FFD700"/>
                </a:solidFill>
                <a:latin typeface="Roboto"/>
                <a:ea typeface="Roboto"/>
                <a:cs typeface="Roboto"/>
                <a:sym typeface="Roboto"/>
              </a:rPr>
              <a:t>政治困境</a:t>
            </a:r>
            <a:r>
              <a:rPr lang="en-US" b="false" i="false" strike="noStrike" u="none" sz="1800">
                <a:solidFill>
                  <a:srgbClr val="FFFFFF">
                    <a:alpha val="90196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。</a:t>
            </a:r>
            <a:endParaRPr lang="en-US" sz="1100"/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0" flipH="false" flipV="false">
            <a:off x="762000" y="4127500"/>
            <a:ext cx="304800" cy="304800"/>
          </a:xfrm>
          <a:prstGeom prst="rect">
            <a:avLst/>
          </a:prstGeom>
        </p:spPr>
      </p:pic>
      <p:sp>
        <p:nvSpPr>
          <p:cNvPr name="AutoShape 14" id="14"/>
          <p:cNvSpPr/>
          <p:nvPr/>
        </p:nvSpPr>
        <p:spPr>
          <a:xfrm rot="0" flipH="false" flipV="false">
            <a:off x="1143000" y="4064000"/>
            <a:ext cx="7112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终局定论：</a:t>
            </a:r>
            <a:r>
              <a:rPr lang="en-US" b="false" i="false" strike="noStrike" u="none" sz="1800">
                <a:solidFill>
                  <a:srgbClr val="FFFFFF">
                    <a:alpha val="90196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这场博弈的最终结局，是斩首战术的彻底失败和战略层面的</a:t>
            </a:r>
            <a:r>
              <a:rPr lang="en-US" b="true" i="false" strike="noStrike" u="none" sz="1800">
                <a:solidFill>
                  <a:srgbClr val="FFD700"/>
                </a:solidFill>
                <a:latin typeface="Roboto"/>
                <a:ea typeface="Roboto"/>
                <a:cs typeface="Roboto"/>
                <a:sym typeface="Roboto"/>
              </a:rPr>
              <a:t>全面崩盘</a:t>
            </a:r>
            <a:r>
              <a:rPr lang="en-US" b="false" i="false" strike="noStrike" u="none" sz="1800">
                <a:solidFill>
                  <a:srgbClr val="FFFFFF">
                    <a:alpha val="90196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。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762000" y="5334000"/>
            <a:ext cx="10668000" cy="762000"/>
          </a:xfrm>
          <a:prstGeom prst="roundRect">
            <a:avLst>
              <a:gd name="adj" fmla="val 16666"/>
            </a:avLst>
          </a:prstGeom>
          <a:solidFill>
            <a:srgbClr val="FFFFFF">
              <a:alpha val="10000"/>
            </a:srgbClr>
          </a:solidFill>
          <a:ln w="12700" cmpd="sng" cap="flat">
            <a:solidFill>
              <a:srgbClr val="FFD700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1016000" y="5461000"/>
            <a:ext cx="1016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FFFFFF">
                    <a:alpha val="90196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“在现代战争中，单纯的军事技术优势并不能保证胜利，战略韧性与体系对抗才是决胜关键。”</a:t>
            </a:r>
            <a:endParaRPr lang="en-US" sz="1100"/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3954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B3954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5715000" y="2032000"/>
            <a:ext cx="762000" cy="50800"/>
          </a:xfrm>
          <a:prstGeom prst="roundRect">
            <a:avLst>
              <a:gd name="adj" fmla="val 0"/>
            </a:avLst>
          </a:prstGeom>
          <a:solidFill>
            <a:srgbClr val="FFD70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016000" y="2413000"/>
            <a:ext cx="1016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4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感谢聆听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016000" y="3302000"/>
            <a:ext cx="1016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2800" spc="400">
                <a:solidFill>
                  <a:srgbClr val="FFD700"/>
                </a:solidFill>
                <a:latin typeface="Noto Sans SC"/>
                <a:ea typeface="Noto Sans SC"/>
                <a:cs typeface="Noto Sans SC"/>
                <a:sym typeface="Noto Sans SC"/>
              </a:rPr>
              <a:t>Q&amp;A 互动问答</a:t>
            </a:r>
            <a:endParaRPr lang="en-US" sz="1100"/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5892800" y="4191000"/>
            <a:ext cx="406400" cy="406400"/>
          </a:xfrm>
          <a:prstGeom prst="rect">
            <a:avLst/>
          </a:prstGeom>
        </p:spPr>
      </p:pic>
      <p:sp>
        <p:nvSpPr>
          <p:cNvPr name="AutoShape 8" id="8"/>
          <p:cNvSpPr/>
          <p:nvPr/>
        </p:nvSpPr>
        <p:spPr>
          <a:xfrm rot="0" flipH="false" flipV="false">
            <a:off x="1016000" y="4826000"/>
            <a:ext cx="1016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欢迎大家提问交流，共同探讨未来机遇</a:t>
            </a:r>
            <a:endParaRPr lang="en-US" sz="1100"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>
            <a:off x="10668000" y="6190112"/>
            <a:ext cx="1524000" cy="66788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