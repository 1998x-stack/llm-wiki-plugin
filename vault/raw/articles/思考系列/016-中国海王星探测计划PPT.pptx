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和大家探讨一个激动人心的话题——中国的海王星探测计划。这不仅仅是一次深空探索任务，更是一个关乎民族未来、跨越五百年历史回响的战略抉择。让我们一起走进这片遥远而神秘的蓝色疆域，看看为什么我们必须拥抱下一个大航天时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四个部分。首先，我们会揭开海王星的神秘面纱，了解这颗太阳系“天花板”的基本情况。接着，我们将回顾历史，从五百年前的大航海时代汲取教训。然后，我们会深入探讨前往海王星所面临的四大技术挑战。最后，我们将聚焦中国的深空探测规划，看看我们离实现这一宏伟目标还有多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现在，让我们进入第一部分：海王星的神秘面纱。作为太阳系最遥远的大行星，海王星一直充满了未知，它就像太阳系的“天花板”，等待着我们去触摸和探索。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海王星是太阳系八大行星中的最后一颗，也是距离我们最为遥远的一颗。它与地球的距离达到了惊人的45亿公里，这意味着我们发出的信号需要8个半小时才能收到回复。迄今为止，人类对它的了解几乎全部来自于1989年旅行者2号的一次匆匆一瞥，这使得这颗蓝色星球充满了神秘色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海王星最独特的地方在于它是一颗“冰巨星”。它的内部充满了高温高压下的冰态物质，这与我们熟悉的气态巨行星完全不同。同时，它拥有太阳系最狂暴的风暴，风速超过音速，这种极端的环境为我们的探测任务带来了巨大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尽管旅行者2号为我们带来了珍贵的数据，但我们对海王星的了解依然非常有限。它的内部结构、风暴能量来源、异常磁场的成因，甚至是“钻石雨”的假说，都等待着我们去探索和验证。可以说，海王星对我们而言，依然是一个巨大的谜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接下来，让我们进入第二部分，从历史中寻找答案。五百年前，我们错过了大航海时代，这给我们留下了深刻的历史教训。今天，面对大航天时代的机遇，我们不能再重蹈覆辙。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历史总是惊人地相似。五百年前，郑和的船队曾是世界的骄傲，但我们最终选择了闭关锁国，错过了大航海时代，为此付出了沉重的代价。这段历史告诉我们，固步自封必然导致落后。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今天，大航天时代的浪潮已经到来。深空探测就是我们这一代人的“大航海”。海王星作为太阳系探测的最后一块高地，是我们实现超越、引领未来的关键。这一次，我们绝不能再错过。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深空探测的价值远不止于探索宇宙。为海王星探测所突破的每一项技术，都会像阿波罗计划那样，广泛应用于民用领域，反哺整个社会的科技进步。这是对未来的战略性投资，其回报将是巨大的。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当然，通往海王星的道路绝非坦途。接下来，我们将直面这趟旅程中的四大“地狱级”技术挑战。每一关，都是对人类科技极限的考验。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第一重挑战是能源。在遥远的太阳系边缘，太阳能几乎可以忽略不计。我们必须依靠核动力来驱动探测器，这对我们的核电源技术提出了极高的要求。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第二重挑战是通信。如此遥远的距离，使得信号变得极其微弱，而且我们无法实时控制探测器。这要求我们必须拥有强大的深空测控能力和高度智能的自主航天器。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第三重挑战是精准的轨道制动。这就像在高速行驶中，蒙着眼睛精准地将车停进一个指定的车位，难度可想而知。这是整个任务中最关键也最危险的一步。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最后一重挑战，是时间。这是一场长达数十年的马拉松，需要几代航天人的接力奋斗。这不仅是技术的比拼，更是毅力和信念的传承。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面对这些挑战，中国航天已经做好了准备。在最后一部分，我们将看看中国的深空探测之路走到了哪一步，以及我们距离海王星还有多远。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通过嫦娥工程和天问系列任务，中国已经建立了完整的深空探测体系，从月球到火星，我们一步步积累经验，为迈向更遥远的深空奠定了坚实的技术基础。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根据规划，中国的深空探测将稳步推进。从火星采样返回，到探测木星和天王星，每一步都在为最终的海王星探测任务铺路。海王星探测虽然遥远，但已经被提上了日程。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我们的海王星探测任务目标明确：不仅要实现环绕探测，还要深入研究其大气、磁场，并对其卫星海卫一进行探索，力求解开这颗冰巨星的众多谜团。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总而言之，海王星探测计划是一项功在当代、利在千秋的伟业。它承载着我们对宇宙的好奇，更承载着一个民族对未来的责任与担当。我们的征途，必将是更加广阔的星辰大海。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我的分享到此结束。现在，我想把问题留给大家：你认为我们应该优先推进海王星探测吗？欢迎大家分享自己的观点和想法。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再次感谢大家的聆听！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2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36.jpe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3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50.jpe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58.jpe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6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64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8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9.jpeg" Type="http://schemas.openxmlformats.org/officeDocument/2006/relationships/image"/><Relationship Id="rId4" Target="../media/image70.jpeg" Type="http://schemas.openxmlformats.org/officeDocument/2006/relationships/image"/><Relationship Id="rId5" Target="../media/image71.jpe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74.jpe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82.png" Type="http://schemas.openxmlformats.org/officeDocument/2006/relationships/image"/><Relationship Id="rId6" Target="../media/image83.svg" Type="http://schemas.openxmlformats.org/officeDocument/2006/relationships/image"/><Relationship Id="rId7" Target="../media/image84.png" Type="http://schemas.openxmlformats.org/officeDocument/2006/relationships/image"/><Relationship Id="rId8" Target="../media/image85.svg" Type="http://schemas.openxmlformats.org/officeDocument/2006/relationships/image"/><Relationship Id="rId9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6.jpeg" Type="http://schemas.openxmlformats.org/officeDocument/2006/relationships/image"/><Relationship Id="rId4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notesSlides/notesSlide22.xml" Type="http://schemas.openxmlformats.org/officeDocument/2006/relationships/notesSlide"/><Relationship Id="rId6" Target="../media/image8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032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中国海王星探测计划：跨越五百年的星辰征程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1459" flipH="false" flipV="false">
            <a:off x="4191011" y="2978150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3175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为何我们必须拥抱下一个大航天时代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334000" y="6096000"/>
            <a:ext cx="1524000" cy="381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223000"/>
            <a:ext cx="1219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DEEP SPACE EXPLORATION MISSION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762040" y="12636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524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171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海王星的神秘面纱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78000" y="2159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探索太阳系的“天花板”，了解这颗冰巨星的独特地貌与物理特性。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524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778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366000" y="171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历史的回响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366000" y="2159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回顾五百年前的大航海时代，从历史中汲取探索深空的勇气与智慧。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556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778000" y="3746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地狱级的技术挑战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778000" y="4191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深入解析通往冰巨星的四重难关：动力、通信、生存与精密测控。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3556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8100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366000" y="3746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中国的深空之路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0" y="4191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聚焦中国深空探测规划，展望我们距离海王星还有多远的征程。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192F">
                  <a:alpha val="10000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0A192F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270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0" y="203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 spc="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667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海王星的神秘面纱：太阳系的“天花板”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81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探索太阳系边缘的蓝色巨人，揭开冰巨星的极端天气与未知奥秘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192F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0A192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太阳系最遥远的大行星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600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轨道位置：太阳系的“天花板”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33500" y="1981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作为八大行星中最外侧的大行星，它是太阳系疆域的边界标志。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667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2616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极致遥远：45亿公里的距离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33500" y="2997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光速单程需4小时以上，探测器信号往返延迟超过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8小时</a:t>
            </a: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683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3632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探测历史：唯一的匆匆一瞥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33500" y="4013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人类仅在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1989年</a:t>
            </a: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通过旅行者2号完成过一次飞掠观测，此后再无造访。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7112000" y="1524000"/>
            <a:ext cx="2794000" cy="2794000"/>
          </a:xfrm>
          <a:prstGeom prst="ellipse">
            <a:avLst/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  <a:effectLst>
            <a:outerShdw dir="2700000" dist="0" blurRad="254000" algn="tl" rotWithShape="false">
              <a:srgbClr val="64FFDA">
                <a:alpha val="3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444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旅行者2号拍摄的海王星真实影像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092" flipH="false" flipV="false">
            <a:off x="762004" y="5327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62000" y="5461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海王星的蓝色源于其大气层中的甲烷吸收了红光，呈现出迷人的冰蓝色调。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冰巨星的独特魅力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714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651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构成独特：冰态物质为主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60500" y="2006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主要成分并非氢氦，而是水、氨、甲烷等冰态物质，区别于气态巨行星。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9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2984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2921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风暴之王：极端天气系统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60500" y="3276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拥有太阳系最强烈风暴，风速高达2100公里/小时，是地球最强台风的十多倍。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460500" y="4191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内部结构：极端环境分层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460500" y="4546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从外到内依次为大气层、超临界流体层和岩石金属核心，内部环境极端恶劣。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1524000"/>
            <a:ext cx="2921000" cy="2921000"/>
          </a:xfrm>
          <a:prstGeom prst="roundRect">
            <a:avLst>
              <a:gd name="adj" fmla="val 4347"/>
            </a:avLst>
          </a:prstGeom>
          <a:solidFill>
            <a:srgbClr val="000000">
              <a:alpha val="0"/>
            </a:srgbClr>
          </a:solidFill>
          <a:ln w="25400" cmpd="sng" cap="flat">
            <a:solidFill>
              <a:srgbClr val="64FFD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6667500" y="1587500"/>
            <a:ext cx="2794000" cy="2794000"/>
          </a:xfrm>
          <a:prstGeom prst="roundRect">
            <a:avLst>
              <a:gd name="adj" fmla="val 454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604000" y="4572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海王星内部结构示意图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92" flipH="false" flipV="false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2000" y="5715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数据来源：NASA 海王星探测任务报告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我们对海王星的了解，几乎为零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mpd="sng" cap="flat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dir="2700000" dist="0" blurRad="254000" algn="tl" rotWithShape="false">
              <a:srgbClr val="64FFDA">
                <a:alpha val="2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4064000" y="1651000"/>
            <a:ext cx="685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254500" y="18923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826000" y="1752600"/>
            <a:ext cx="584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内部结构之谜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20828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海王星的核心究竟是岩石还是冰态物质，科学界尚无定论。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2667000"/>
            <a:ext cx="685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254500" y="29083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826000" y="2768600"/>
            <a:ext cx="584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风暴能量来源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30988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距离太阳如此遥远，为何能产生如此强大的风暴？其能量来源是一个巨大的谜。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64000" y="3683000"/>
            <a:ext cx="685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254500" y="39243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826000" y="3784600"/>
            <a:ext cx="584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异常磁场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41148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磁场与自转轴夹角高达47度，这种极端倾斜的磁场是如何形成的？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064000" y="4699000"/>
            <a:ext cx="685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254500" y="49403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4826000" y="4800600"/>
            <a:ext cx="584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“钻石雨”假说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826000" y="51308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内部高压环境下，甲烷是否会分解形成持续下落的“钻石雨”？仍需验证。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62000" y="6096000"/>
            <a:ext cx="1066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FFD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尽管旅行者2号带来了数据，但海王星对人类而言依然充满未知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0" y="1778000"/>
            <a:ext cx="2032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03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59100" y="2921000"/>
            <a:ext cx="6261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历史的回响：错过的海洋与星空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3810000"/>
            <a:ext cx="2032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572000" y="4191000"/>
            <a:ext cx="406400" cy="40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213600" y="4191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0" y="4826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C8D2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ECHOES OF HISTORY: THE OCEAN AND THE STARRY SKY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553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500年前，我们错过了大海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101" b="101"/>
          <a:stretch>
            <a:fillRect/>
          </a:stretch>
        </p:blipFill>
        <p:spPr>
          <a:xfrm rot="0" flipH="false" flipV="false">
            <a:off x="762000" y="1651000"/>
            <a:ext cx="2540000" cy="3175000"/>
          </a:xfrm>
          <a:prstGeom prst="roundRect">
            <a:avLst>
              <a:gd name="adj" fmla="val 5000"/>
            </a:avLst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  <a:effectLst>
            <a:outerShdw dir="2700000" dist="0" blurRad="127000" algn="tl" rotWithShape="false">
              <a:srgbClr val="64FFDA">
                <a:alpha val="3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3683000" y="1651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9370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445000" y="1803400"/>
            <a:ext cx="609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郑和壮举：领先世界的航海时代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1590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十五世纪初，郑和率领当时世界最强大的船队七下西洋，展现了中国领先的航海技术与大国风范。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2921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937000" y="3111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445000" y="3073400"/>
            <a:ext cx="609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海禁之殇：主动放弃海洋的遗憾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34290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随后的海禁政策使中国主动放弃了海洋，错失了大航海时代的发展机遇，逐渐与世界发展脱轨。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4191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937000" y="4381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445000" y="4343400"/>
            <a:ext cx="609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历史教训：落后就要挨打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0" y="46990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闭关锁国导致了科技和军事的全面落后，最终迎来了百年屈辱，这是“落后就要挨打”的深刻写照。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905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“历史总是惊人地相似，固步自封必然导致落后”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今天，我们不能再错过星空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159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当代“大航海”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429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今天的深空探测，就是新时代的“大航海”，是人类拓展生存空间、探索未知世界的必然选择。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159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572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核心竞争力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3429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掌握星际航行技术，意味着掌握了未来的核心竞争力，是一个国家综合国力的体现。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159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255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历史机遇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3429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海王星是目前唯一一颗尚未被人类探测器环绕的大行星，这是我们实现从跟跑到领跑的绝佳历史机遇。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0" y="63500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探索的回报：技术反哺与未来投资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714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651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深空核电源技术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60500" y="20066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为探测器提供动力，未来可应用于月球基地、火星定居点及地球极端环境作业。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305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2921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2857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超远距离通信技术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60500" y="32131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突破45亿公里通信难题，直接提升卫星通信与北斗导航系统的性能上限。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9370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127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460500" y="4064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自主导航与控制技术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460500" y="44196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深空探测器的自主导航与精准制动技术，是未来星际航行的核心基础。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1435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334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460500" y="5270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阿波罗的启示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460500" y="56261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海王星探测将如阿波罗计划般，成为推动我国科技产业全面腾飞的强大引擎。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8128000" y="1778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  <a:effectLst>
            <a:outerShdw dir="2700000" dist="0" blurRad="254000" algn="tl" rotWithShape="false">
              <a:srgbClr val="64FFDA">
                <a:alpha val="40000"/>
              </a:srgbClr>
            </a:outerShdw>
          </a:effectLst>
        </p:spPr>
      </p:pic>
      <p:sp>
        <p:nvSpPr>
          <p:cNvPr name="AutoShape 22" id="22"/>
          <p:cNvSpPr/>
          <p:nvPr/>
        </p:nvSpPr>
        <p:spPr>
          <a:xfrm rot="0" flipH="false" flipV="false">
            <a:off x="8128000" y="4826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技术创新图谱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从深空探测到民用科技的转化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413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03 地狱级的技术挑战：通往冰巨星的四重难关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31115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64FFD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THE FOUR HELLISH CHALLENGES TO ICE GIANTS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19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8051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第一关：能源绝境，太阳能完全失效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034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太阳能失效危机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159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海王星轨道光照强度仅为地球的千分之一，传统太阳能板完全无法工作，探测器面临断电风险。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9845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1369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同位素核电源 (RTG)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492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依靠钚-238的自然衰变持续产生电力，无需依赖阳光，是深空探测的核心动力源。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180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4704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4D4F"/>
                </a:solidFill>
                <a:latin typeface="Noto Sans SC"/>
                <a:ea typeface="Noto Sans SC"/>
                <a:cs typeface="Noto Sans SC"/>
                <a:sym typeface="Noto Sans SC"/>
              </a:rPr>
              <a:t>稀缺资源挑战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4826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钚-238全球年产量极低，如何获取足够的燃料以支持长航程任务是关键难题。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0" y="1841500"/>
            <a:ext cx="3048000" cy="3048000"/>
          </a:xfrm>
          <a:prstGeom prst="roundRect">
            <a:avLst>
              <a:gd name="adj" fmla="val 8333"/>
            </a:avLst>
          </a:prstGeom>
          <a:solidFill>
            <a:srgbClr val="64FFDA">
              <a:alpha val="1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rcRect l="33333" r="33333" t="16666" b="50000"/>
          <a:stretch>
            <a:fillRect/>
          </a:stretch>
        </p:blipFill>
        <p:spPr>
          <a:xfrm rot="0" flipH="false" flipV="false">
            <a:off x="7747000" y="19685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7620000" y="5016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同位素核电源 (RTG) 概念示意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92" flipH="false" flipV="false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2000" y="5969000"/>
            <a:ext cx="1066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DEEP SPACE EXPLORATION CHALLENGE SERIES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第二关：通信极限，信号淹没在宇宙噪声中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121" b="121"/>
          <a:stretch>
            <a:fillRect/>
          </a:stretch>
        </p:blipFill>
        <p:spPr>
          <a:xfrm rot="0" flipH="false" flipV="false">
            <a:off x="762000" y="1651000"/>
            <a:ext cx="4064000" cy="2616200"/>
          </a:xfrm>
          <a:prstGeom prst="roundRect">
            <a:avLst>
              <a:gd name="adj" fmla="val 4854"/>
            </a:avLst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38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FFDA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中国深空测控站：捕捉微弱信号的“千里眼”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07000" y="1651000"/>
            <a:ext cx="622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397500" y="1841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905500" y="1803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信号衰减：百亿倍的损耗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905500" y="2159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45亿公里的距离导致信号强度衰减百亿倍，抵达地球时几乎与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宇宙背景噪声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融为一体。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07000" y="2921000"/>
            <a:ext cx="622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397500" y="311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905500" y="3073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延迟巨大：无法实时操控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905500" y="3429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信号以光速传播，往返一次仍需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8个半小时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，地面指令无法应对突发状况。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07000" y="4191000"/>
            <a:ext cx="622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397500" y="4381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905500" y="4343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解决方案：全球组网与自主智能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905500" y="4699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建立全球深空测控网，并赋予探测器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自主导航与故障处理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能力，实现独立应对。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092" flipH="false" flipV="false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FFDA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DEEP SPACE EXPLORATION CHALLENGE // 02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8559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第三关：太空刹车，差之毫厘谬以千里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609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193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1778000"/>
            <a:ext cx="495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高速制动挑战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87500" y="21590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探测器历经十数年飞行，抵达海王星时速度极高，需在精确时间点“刹车”以被引力捕获。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984500"/>
            <a:ext cx="609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52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87500" y="3111500"/>
            <a:ext cx="495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零容错操作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87500" y="34925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制动时机和力度的微小偏差，都可能导致探测器飞离太阳系或坠毁，容不得丝毫失误。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18000"/>
            <a:ext cx="609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6863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87500" y="4445000"/>
            <a:ext cx="495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自主精准控制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87500" y="48260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地海距离遥远，通讯延迟巨大，整个制动过程必须由探测器自主完成，考验极致导航精度。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8128000" y="1778000"/>
            <a:ext cx="3302000" cy="3302000"/>
          </a:xfrm>
          <a:prstGeom prst="ellipse">
            <a:avLst/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  <a:effectLst>
            <a:outerShdw dir="2700000" dist="0" blurRad="254000" algn="tl" rotWithShape="false">
              <a:srgbClr val="64FFDA">
                <a:alpha val="5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8128000" y="520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FFDA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探测器轨道制动艺术示意图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第四关：时间的考验，两代人的接力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2794000" cy="2794000"/>
          </a:xfrm>
          <a:prstGeom prst="ellipse">
            <a:avLst/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  <a:effectLst>
            <a:outerShdw dir="2700000" dist="0" blurRad="254000" algn="tl" rotWithShape="false">
              <a:srgbClr val="64FFDA">
                <a:alpha val="4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4064000" y="16510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826000" y="18034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漫长的旅程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21844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从发射到抵达海王星，飞行时间预计超过10年，整个任务周期将超过30年。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29210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18000" y="3111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826000" y="30734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接力的事业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34544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这意味着参与项目的科研人员需要两代人甚至三代人的接力，才能见证最终的成果。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64000" y="41910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318000" y="4381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826000" y="43434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奉献精神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47244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这不仅是对技术的考验，更是对科研工作者耐心、毅力和奉献精神的考验。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92" flipH="false" flipV="false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FFDA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“探索宇宙是一场跨越时空的接力赛，我们既是参与者，也是传承者。”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6416" b="6416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 spc="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540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中国的深空之路：我们离海王星还有多远？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3810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我们已经具备坚实的基础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3095" b="3095"/>
          <a:stretch>
            <a:fillRect/>
          </a:stretch>
        </p:blipFill>
        <p:spPr>
          <a:xfrm rot="0" flipH="false" flipV="false">
            <a:off x="1016000" y="2032000"/>
            <a:ext cx="2032000" cy="1270000"/>
          </a:xfrm>
          <a:prstGeom prst="roundRect">
            <a:avLst>
              <a:gd name="adj" fmla="val 1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342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嫦娥工程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8735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成功实现月球环绕、着陆、巡视和采样返回，积累宝贵深空探测经验。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1778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2830" b="2830"/>
          <a:stretch>
            <a:fillRect/>
          </a:stretch>
        </p:blipFill>
        <p:spPr>
          <a:xfrm rot="0" flipH="false" flipV="false">
            <a:off x="3810000" y="2032000"/>
            <a:ext cx="2032000" cy="1270000"/>
          </a:xfrm>
          <a:prstGeom prst="roundRect">
            <a:avLst>
              <a:gd name="adj" fmla="val 1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3683000" y="342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天问一号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38735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一次性完成火星环绕、着陆和巡视，标志我国进入行星探测时代。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778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rcRect l="5654" r="5654" t="0" b="0"/>
          <a:stretch>
            <a:fillRect/>
          </a:stretch>
        </p:blipFill>
        <p:spPr>
          <a:xfrm rot="0" flipH="false" flipV="false">
            <a:off x="6604000" y="2032000"/>
            <a:ext cx="2032000" cy="1270000"/>
          </a:xfrm>
          <a:prstGeom prst="roundRect">
            <a:avLst>
              <a:gd name="adj" fmla="val 1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342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天问二号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38735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正在执行小行星探测任务，进一步验证深空探测技术。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144000" y="1778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033000" y="2286000"/>
            <a:ext cx="762000" cy="762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271000" y="342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深空测控网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271000" y="38735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建成覆盖全球的测控网络，具备支持太阳系级探测任务的能力。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092" flipH="false" flipV="false">
            <a:off x="762004" y="5835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FFDA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中国深空探测体系已形成完整闭环，迈向更远深空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未来的征程：从火星到木星，再到海王星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523" flipH="false" flipV="false">
            <a:off x="1270004" y="2279650"/>
            <a:ext cx="965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  <a:effectLst>
            <a:outerShdw dir="2700000" dist="190500" blurRad="127000" algn="tl" rotWithShape="false">
              <a:srgbClr val="64FFDA">
                <a:alpha val="50000"/>
              </a:srgbClr>
            </a:outerShdw>
          </a:effectLst>
        </p:spPr>
      </p:cxnSp>
      <p:sp>
        <p:nvSpPr>
          <p:cNvPr name="AutoShape 6" id="6"/>
          <p:cNvSpPr/>
          <p:nvPr/>
        </p:nvSpPr>
        <p:spPr>
          <a:xfrm rot="0" flipH="false" flipV="false">
            <a:off x="1803400" y="2184400"/>
            <a:ext cx="203200" cy="203200"/>
          </a:xfrm>
          <a:prstGeom prst="ellipse">
            <a:avLst/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101600" algn="tl" rotWithShape="false">
              <a:srgbClr val="FFD700">
                <a:alpha val="6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667000"/>
            <a:ext cx="2413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65300" y="2857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3365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天问三号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7465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2030年前后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41275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实施火星采样返回任务，带回火星土壤样本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97400" y="2184400"/>
            <a:ext cx="203200" cy="203200"/>
          </a:xfrm>
          <a:prstGeom prst="ellipse">
            <a:avLst/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101600" algn="tl" rotWithShape="false">
              <a:srgbClr val="FFD700">
                <a:alpha val="6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56000" y="2667000"/>
            <a:ext cx="2413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59300" y="2857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683000" y="3365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天问四号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83000" y="37465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2030年前后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683000" y="41275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探测木星并飞掠天王星，积累冰巨星探测经验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91400" y="2184400"/>
            <a:ext cx="203200" cy="203200"/>
          </a:xfrm>
          <a:prstGeom prst="ellipse">
            <a:avLst/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101600" algn="tl" rotWithShape="false">
              <a:srgbClr val="FFD700">
                <a:alpha val="6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2667000"/>
            <a:ext cx="2413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353300" y="2857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477000" y="3365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天问五号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37465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规划阶段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1275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计划带回金星大气层样本，深入研究大气成分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85400" y="2184400"/>
            <a:ext cx="203200" cy="203200"/>
          </a:xfrm>
          <a:prstGeom prst="ellipse">
            <a:avLst/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101600" algn="tl" rotWithShape="false">
              <a:srgbClr val="FFD700">
                <a:alpha val="6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144000" y="2667000"/>
            <a:ext cx="2413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47300" y="28575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271000" y="3365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海王星探测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271000" y="37465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2039年前后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271000" y="41275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天问六号及之后任务，探索遥远的冰巨星世界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0" y="63500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5212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海王星探测任务目标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</a:ln>
          <a:effectLst>
            <a:outerShdw dir="2700000" dist="0" blurRad="254000" algn="tl" rotWithShape="false">
              <a:srgbClr val="64FFDA">
                <a:alpha val="4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4064000" y="1651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19685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953000" y="17780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首次环绕探测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21590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实现人类历史上首次对海王星的环绕探测，进行长期驻留观测，获取核心科学数据。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29845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18000" y="3302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53000" y="31115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大气与磁场探测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953000" y="34925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深入研究海王星的大气成分、垂直结构，以及其独特的磁场环境和极光现象。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64000" y="4318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318000" y="46355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953000" y="44450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海卫一观测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953000" y="48260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对海王星最大卫星海卫一进行抵近观测，探索其地质活动与潜在的冰下海洋。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508000"/>
            <a:ext cx="10972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功在当代，利在千秋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1263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651000"/>
            <a:ext cx="109728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89000" y="19558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17780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海王星探测，是为我们的子孙后代抢占未来大航天时代的入场券。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2857500"/>
            <a:ext cx="109728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89000" y="31623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29845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这不仅是一次太空探索，更是一个民族着眼长远、勇于担当的战略抉择。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" y="4445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true" strike="noStrike" u="none" sz="2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“我们的征途，是星辰大海。”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791200" y="5334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66800" y="1016000"/>
            <a:ext cx="10058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你认为我们应该优先推进海王星探测吗？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1778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461000" y="2159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欢迎在评论区或现场分享你的看法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" y="6096000"/>
            <a:ext cx="11430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6223000"/>
            <a:ext cx="1143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FFD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NEPTUNE EXPLORATION · FUTURE MISSION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905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4749800" y="26670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2286000" y="3810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期待与您共同探索宇宙的无限可能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